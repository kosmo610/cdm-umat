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오늘은 손상 결과가 아니라 '모델을 어떻게 만들었는가'를 다룹니다. 논문 재현의 앞 절반, 즉 형상·경계조건·검증까지입니다.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다섯 단계 중 오늘은 1~5 전부를 훑되, 무게중심은 3(PBC)과 4(검증)에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등록부 숫자가 이 발표의 정직성 장치입니다. 맞은 것뿐 아니라 임의로 정한 19건, 역보정 1건을 먼저 밝힙니다.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논문 해석값은 실험 평균보다 10~15% 높습니다. 우리가 맞춰야 하는 대상은 '논문 해석값'입니다.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게이지부는 30 × 6 × 3.5 mm 입니다. 다음 장에서 이 안에 단위셀이 몇 개 들어가는지 계산합니다.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여기가 '논문과 같은 시편에 RVE를 어떻게 넣었나'에 대한 답입니다. 시편을 축소한 것이 아니라, 시편을 이루는 반복 단위를 뽑아낸 것입니다. 119개, 8층은 제가 논문 치수로 계산한 값이라고 반드시 밝히세요.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논문도 TexGen을 씁니다. 우리가 다른 도구를 쓴 게 아니라 같은 도구로 같은 형상을 만든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두께 0.44는 메쉬 생성 편의상 반올림한 값입니다. +1.5%가 결과에 미치는 영향은 아직 별도로 분리해 보지 않았습니다.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'조용히 틀리는' 실패 모드가 가장 위험합니다. 그래서 다음 장의 배향 검증을 매번 돌립니다.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표의 숫자는 26,452 요소 coarse 메쉬 기준입니다. 174k 생산 메쉬의 검증 숫자는 다음 장들의 PBC 감사 결과입니다.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논문은 PBC를 '적용했다'고만 쓰고 식을 안 줍니다. 그래서 우리 쪽 구속식이 옳다는 것을 스스로 증명해야 했고, 그게 다음 장부터의 검증입니다.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드라이버 절점 방식의 장점은 거시 변형률을 '지정'하고 거시 응력을 반력에서 '읽는' 것이 대칭적으로 된다는 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1~3단계는 스크립트가 다 준비돼 있지만 아직 돌리지 않았습니다. 정직하게 '준비'로 표기했습니다.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Vf 0.4000이 여기서 다시 확인됩니다. 얀 체적분율 50.51%에 얀 내부 섬유분율 0.792를 곱한 값입니다.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슬라이드는 '검증의 검증'입니다. 질문이 나오면 실제 주입 코드가 리포에 있다고 답하세요.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 질문이 나올 수 있습니다. '왜 안 돌렸나' → 본해석에서 이미 더 강한 증거가 나왔기 때문에 우선순위가 밀렸다고 답하고 다음 장으로 넘어가세요.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'PBC 제대로 걸렸냐'는 질문에 대한 준비된 답이 이 장입니다. 네 개 중 마지막 하나만 말해도 충분합니다.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논문 3스텝을 그대로 따라갑니다. 6개 섭동 스텝만 우리가 추가한 것이고, 이건 논문에 없는 정보를 공짜로 얻는 장치입니다.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고온이 안 맞는 이유(비가역 손상 + 상온 경유, 잔류응력 크기 부족)는 다음 회차 주제입니다. 오늘은 여기까지만 예고합니다.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28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CDM-UMAT/02c20b80-a460-5fa7-915d-749b71e710a3/scratchpad/figs/fig2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2084832"/>
            <a:ext cx="4892040" cy="29992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1060704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D95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랩미팅 · 2026-08-06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66928" y="1481328"/>
            <a:ext cx="6035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C/SiC 평직 복합재</a:t>
            </a:r>
            <a:endParaRPr lang="en-US" sz="3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RVE 구축과 주기경계조건 검증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566928" y="3218688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6CDD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TexGen 형상 모델링 · PBC 적용 · RVE 검증 · 해석 조립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66928" y="3803904"/>
            <a:ext cx="2011680" cy="0"/>
          </a:xfrm>
          <a:prstGeom prst="line">
            <a:avLst/>
          </a:prstGeom>
          <a:noFill/>
          <a:ln w="31750">
            <a:solidFill>
              <a:srgbClr val="D9542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4041648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b="1" dirty="0">
                <a:solidFill>
                  <a:srgbClr val="8B93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재현 대상
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6CDD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Q. Zhang, J. Ge, B. Zhang, C. He, Z. Wu, J. Liang,
</a:t>
            </a:r>
            <a:pPr indent="0" marL="0">
              <a:lnSpc>
                <a:spcPct val="122000"/>
              </a:lnSpc>
              <a:buNone/>
            </a:pPr>
            <a:r>
              <a:rPr lang="en-US" sz="1150" i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“Effect of thermal residual stress on the tensile properties and damage
process of C/SiC composites at high temperatures”
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C6CDD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Ceramics International 48 (2022) 3109–3124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720840" y="517550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3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논문 Fig. 2(c) — TexGen으로 생성한 평직 RVC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D95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SCOPE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다룰 것 — 모델이 만들어지기까지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2066544" cy="2743200"/>
          </a:xfrm>
          <a:prstGeom prst="roundRect">
            <a:avLst>
              <a:gd name="adj" fmla="val 2655"/>
            </a:avLst>
          </a:prstGeom>
          <a:solidFill>
            <a:srgbClr val="F1F2F4"/>
          </a:solidFill>
          <a:ln/>
        </p:spPr>
      </p:sp>
      <p:sp>
        <p:nvSpPr>
          <p:cNvPr id="5" name="Shape 3"/>
          <p:cNvSpPr/>
          <p:nvPr/>
        </p:nvSpPr>
        <p:spPr>
          <a:xfrm>
            <a:off x="786384" y="1700784"/>
            <a:ext cx="402336" cy="402336"/>
          </a:xfrm>
          <a:prstGeom prst="ellipse">
            <a:avLst/>
          </a:prstGeom>
          <a:solidFill>
            <a:srgbClr val="D9542B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700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86384" y="2340864"/>
            <a:ext cx="1627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논문 시편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RVE 정의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86384" y="3218688"/>
            <a:ext cx="1627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185 mm 시편에서</a:t>
            </a:r>
            <a:endParaRPr lang="en-US" sz="10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단위셀 하나를 잘라낸다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16352" y="1481328"/>
            <a:ext cx="2066544" cy="2743200"/>
          </a:xfrm>
          <a:prstGeom prst="roundRect">
            <a:avLst>
              <a:gd name="adj" fmla="val 2655"/>
            </a:avLst>
          </a:prstGeom>
          <a:solidFill>
            <a:srgbClr val="F1F2F4"/>
          </a:solidFill>
          <a:ln/>
        </p:spPr>
      </p:sp>
      <p:sp>
        <p:nvSpPr>
          <p:cNvPr id="10" name="Shape 8"/>
          <p:cNvSpPr/>
          <p:nvPr/>
        </p:nvSpPr>
        <p:spPr>
          <a:xfrm>
            <a:off x="3035808" y="1700784"/>
            <a:ext cx="402336" cy="402336"/>
          </a:xfrm>
          <a:prstGeom prst="ellipse">
            <a:avLst/>
          </a:prstGeom>
          <a:solidFill>
            <a:srgbClr val="D9542B"/>
          </a:solidFill>
          <a:ln/>
        </p:spPr>
      </p:sp>
      <p:sp>
        <p:nvSpPr>
          <p:cNvPr id="11" name="Text 9"/>
          <p:cNvSpPr/>
          <p:nvPr/>
        </p:nvSpPr>
        <p:spPr>
          <a:xfrm>
            <a:off x="3035808" y="1700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035808" y="2340864"/>
            <a:ext cx="1627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TexGen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형상 · 메쉬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035808" y="3218688"/>
            <a:ext cx="1627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CT → 타원 특성화</a:t>
            </a:r>
            <a:endParaRPr lang="en-US" sz="10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평직 RVC 생성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65776" y="1481328"/>
            <a:ext cx="2066544" cy="2743200"/>
          </a:xfrm>
          <a:prstGeom prst="roundRect">
            <a:avLst>
              <a:gd name="adj" fmla="val 2655"/>
            </a:avLst>
          </a:prstGeom>
          <a:solidFill>
            <a:srgbClr val="F1F2F4"/>
          </a:solidFill>
          <a:ln/>
        </p:spPr>
      </p:sp>
      <p:sp>
        <p:nvSpPr>
          <p:cNvPr id="15" name="Shape 13"/>
          <p:cNvSpPr/>
          <p:nvPr/>
        </p:nvSpPr>
        <p:spPr>
          <a:xfrm>
            <a:off x="5285232" y="1700784"/>
            <a:ext cx="402336" cy="402336"/>
          </a:xfrm>
          <a:prstGeom prst="ellipse">
            <a:avLst/>
          </a:prstGeom>
          <a:solidFill>
            <a:srgbClr val="3F6B7D"/>
          </a:solidFill>
          <a:ln/>
        </p:spPr>
      </p:sp>
      <p:sp>
        <p:nvSpPr>
          <p:cNvPr id="16" name="Text 14"/>
          <p:cNvSpPr/>
          <p:nvPr/>
        </p:nvSpPr>
        <p:spPr>
          <a:xfrm>
            <a:off x="5285232" y="1700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285232" y="2340864"/>
            <a:ext cx="1627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주기경계조건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285232" y="3218688"/>
            <a:ext cx="1627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*Equation 57식</a:t>
            </a:r>
            <a:endParaRPr lang="en-US" sz="10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드라이버 절점 6개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15200" y="1481328"/>
            <a:ext cx="2066544" cy="2743200"/>
          </a:xfrm>
          <a:prstGeom prst="roundRect">
            <a:avLst>
              <a:gd name="adj" fmla="val 2655"/>
            </a:avLst>
          </a:prstGeom>
          <a:solidFill>
            <a:srgbClr val="F1F2F4"/>
          </a:solidFill>
          <a:ln/>
        </p:spPr>
      </p:sp>
      <p:sp>
        <p:nvSpPr>
          <p:cNvPr id="20" name="Shape 18"/>
          <p:cNvSpPr/>
          <p:nvPr/>
        </p:nvSpPr>
        <p:spPr>
          <a:xfrm>
            <a:off x="7534656" y="1700784"/>
            <a:ext cx="402336" cy="402336"/>
          </a:xfrm>
          <a:prstGeom prst="ellipse">
            <a:avLst/>
          </a:prstGeom>
          <a:solidFill>
            <a:srgbClr val="3F6B7D"/>
          </a:solidFill>
          <a:ln/>
        </p:spPr>
      </p:sp>
      <p:sp>
        <p:nvSpPr>
          <p:cNvPr id="21" name="Text 19"/>
          <p:cNvSpPr/>
          <p:nvPr/>
        </p:nvSpPr>
        <p:spPr>
          <a:xfrm>
            <a:off x="7534656" y="1700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534656" y="2340864"/>
            <a:ext cx="1627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RVE · PBC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534656" y="3218688"/>
            <a:ext cx="1627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솔버 없는 감사</a:t>
            </a:r>
            <a:endParaRPr lang="en-US" sz="10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본해석 증거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564624" y="1481328"/>
            <a:ext cx="2066544" cy="2743200"/>
          </a:xfrm>
          <a:prstGeom prst="roundRect">
            <a:avLst>
              <a:gd name="adj" fmla="val 2655"/>
            </a:avLst>
          </a:prstGeom>
          <a:solidFill>
            <a:srgbClr val="F1F2F4"/>
          </a:solidFill>
          <a:ln/>
        </p:spPr>
      </p:sp>
      <p:sp>
        <p:nvSpPr>
          <p:cNvPr id="25" name="Shape 23"/>
          <p:cNvSpPr/>
          <p:nvPr/>
        </p:nvSpPr>
        <p:spPr>
          <a:xfrm>
            <a:off x="9784080" y="1700784"/>
            <a:ext cx="402336" cy="402336"/>
          </a:xfrm>
          <a:prstGeom prst="ellipse">
            <a:avLst/>
          </a:prstGeom>
          <a:solidFill>
            <a:srgbClr val="2F6B4F"/>
          </a:solidFill>
          <a:ln/>
        </p:spPr>
      </p:sp>
      <p:sp>
        <p:nvSpPr>
          <p:cNvPr id="26" name="Text 24"/>
          <p:cNvSpPr/>
          <p:nvPr/>
        </p:nvSpPr>
        <p:spPr>
          <a:xfrm>
            <a:off x="9784080" y="1700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784080" y="2340864"/>
            <a:ext cx="1627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재료카드 조립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해석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9784080" y="3218688"/>
            <a:ext cx="1627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UMAT 물성 + 3스텝</a:t>
            </a:r>
            <a:endParaRPr lang="en-US" sz="10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(냉각·승온·인장)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66928" y="4626864"/>
            <a:ext cx="11057839" cy="1188720"/>
          </a:xfrm>
          <a:prstGeom prst="roundRect">
            <a:avLst>
              <a:gd name="adj" fmla="val 4615"/>
            </a:avLst>
          </a:prstGeom>
          <a:solidFill>
            <a:srgbClr val="FAE7DF"/>
          </a:solidFill>
          <a:ln/>
        </p:spPr>
      </p:sp>
      <p:sp>
        <p:nvSpPr>
          <p:cNvPr id="30" name="Text 28"/>
          <p:cNvSpPr/>
          <p:nvPr/>
        </p:nvSpPr>
        <p:spPr>
          <a:xfrm>
            <a:off x="841248" y="4626864"/>
            <a:ext cx="1050919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D95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결론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형상은 논문과 같게 맞췄고, 경계조건은 솔버 없이도 · 본해석에서도 옳다는 것이 확인됐다.
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손상 결과와 논문 불일치 분석은 다음 회차에서 다룹니다.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66928" y="63276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CDM-UMAT · C/SiC 평직 RVE 손상해석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D95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어디까지 왔나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444752"/>
            <a:ext cx="7360920" cy="530352"/>
          </a:xfrm>
          <a:prstGeom prst="roundRect">
            <a:avLst>
              <a:gd name="adj" fmla="val 10345"/>
            </a:avLst>
          </a:prstGeom>
          <a:solidFill>
            <a:srgbClr val="F1F2F4"/>
          </a:solidFill>
          <a:ln/>
        </p:spPr>
      </p:sp>
      <p:sp>
        <p:nvSpPr>
          <p:cNvPr id="5" name="Shape 3"/>
          <p:cNvSpPr/>
          <p:nvPr/>
        </p:nvSpPr>
        <p:spPr>
          <a:xfrm>
            <a:off x="694944" y="1563624"/>
            <a:ext cx="566928" cy="292608"/>
          </a:xfrm>
          <a:prstGeom prst="roundRect">
            <a:avLst>
              <a:gd name="adj" fmla="val 15625"/>
            </a:avLst>
          </a:prstGeom>
          <a:solidFill>
            <a:srgbClr val="E2EEE8"/>
          </a:solidFill>
          <a:ln/>
        </p:spPr>
      </p:sp>
      <p:sp>
        <p:nvSpPr>
          <p:cNvPr id="6" name="Text 4"/>
          <p:cNvSpPr/>
          <p:nvPr/>
        </p:nvSpPr>
        <p:spPr>
          <a:xfrm>
            <a:off x="694944" y="1563624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6B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408176" y="1490472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RVE 형상 · 메쉬 (TexGen)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65776" y="149047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174,405 C3D4 · 3.5 × 3.5 × 0.44 mm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66928" y="2048256"/>
            <a:ext cx="7360920" cy="530352"/>
          </a:xfrm>
          <a:prstGeom prst="roundRect">
            <a:avLst>
              <a:gd name="adj" fmla="val 10345"/>
            </a:avLst>
          </a:prstGeom>
          <a:solidFill>
            <a:srgbClr val="F1F2F4"/>
          </a:solidFill>
          <a:ln/>
        </p:spPr>
      </p:sp>
      <p:sp>
        <p:nvSpPr>
          <p:cNvPr id="10" name="Shape 8"/>
          <p:cNvSpPr/>
          <p:nvPr/>
        </p:nvSpPr>
        <p:spPr>
          <a:xfrm>
            <a:off x="694944" y="2167128"/>
            <a:ext cx="566928" cy="292608"/>
          </a:xfrm>
          <a:prstGeom prst="roundRect">
            <a:avLst>
              <a:gd name="adj" fmla="val 15625"/>
            </a:avLst>
          </a:prstGeom>
          <a:solidFill>
            <a:srgbClr val="E2EEE8"/>
          </a:solidFill>
          <a:ln/>
        </p:spPr>
      </p:sp>
      <p:sp>
        <p:nvSpPr>
          <p:cNvPr id="11" name="Text 9"/>
          <p:cNvSpPr/>
          <p:nvPr/>
        </p:nvSpPr>
        <p:spPr>
          <a:xfrm>
            <a:off x="694944" y="2167128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6B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408176" y="2093976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주기경계조건 + 정적 감사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65776" y="2093976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6개 덱 전부 통과 · 경고 0건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6928" y="2651760"/>
            <a:ext cx="7360920" cy="530352"/>
          </a:xfrm>
          <a:prstGeom prst="roundRect">
            <a:avLst>
              <a:gd name="adj" fmla="val 10345"/>
            </a:avLst>
          </a:prstGeom>
          <a:solidFill>
            <a:srgbClr val="F1F2F4"/>
          </a:solidFill>
          <a:ln/>
        </p:spPr>
      </p:sp>
      <p:sp>
        <p:nvSpPr>
          <p:cNvPr id="15" name="Shape 13"/>
          <p:cNvSpPr/>
          <p:nvPr/>
        </p:nvSpPr>
        <p:spPr>
          <a:xfrm>
            <a:off x="694944" y="2770632"/>
            <a:ext cx="566928" cy="292608"/>
          </a:xfrm>
          <a:prstGeom prst="roundRect">
            <a:avLst>
              <a:gd name="adj" fmla="val 15625"/>
            </a:avLst>
          </a:prstGeom>
          <a:solidFill>
            <a:srgbClr val="E2EEE8"/>
          </a:solidFill>
          <a:ln/>
        </p:spPr>
      </p:sp>
      <p:sp>
        <p:nvSpPr>
          <p:cNvPr id="16" name="Text 14"/>
          <p:cNvSpPr/>
          <p:nvPr/>
        </p:nvSpPr>
        <p:spPr>
          <a:xfrm>
            <a:off x="694944" y="2770632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6B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408176" y="2697480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얀 미시역학 균질화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65776" y="269748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Chamis / Schapery · 오차 0.005 % 이내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6928" y="3255264"/>
            <a:ext cx="7360920" cy="530352"/>
          </a:xfrm>
          <a:prstGeom prst="roundRect">
            <a:avLst>
              <a:gd name="adj" fmla="val 10345"/>
            </a:avLst>
          </a:prstGeom>
          <a:solidFill>
            <a:srgbClr val="F1F2F4"/>
          </a:solidFill>
          <a:ln/>
        </p:spPr>
      </p:sp>
      <p:sp>
        <p:nvSpPr>
          <p:cNvPr id="20" name="Shape 18"/>
          <p:cNvSpPr/>
          <p:nvPr/>
        </p:nvSpPr>
        <p:spPr>
          <a:xfrm>
            <a:off x="694944" y="3374136"/>
            <a:ext cx="566928" cy="292608"/>
          </a:xfrm>
          <a:prstGeom prst="roundRect">
            <a:avLst>
              <a:gd name="adj" fmla="val 15625"/>
            </a:avLst>
          </a:prstGeom>
          <a:solidFill>
            <a:srgbClr val="E2EEE8"/>
          </a:solidFill>
          <a:ln/>
        </p:spPr>
      </p:sp>
      <p:sp>
        <p:nvSpPr>
          <p:cNvPr id="21" name="Text 19"/>
          <p:cNvSpPr/>
          <p:nvPr/>
        </p:nvSpPr>
        <p:spPr>
          <a:xfrm>
            <a:off x="694944" y="3374136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6B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408176" y="3300984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UMAT 연속체손상역학 구현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65776" y="3300984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V1_0 → V2_7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66928" y="3858768"/>
            <a:ext cx="7360920" cy="530352"/>
          </a:xfrm>
          <a:prstGeom prst="roundRect">
            <a:avLst>
              <a:gd name="adj" fmla="val 10345"/>
            </a:avLst>
          </a:prstGeom>
          <a:solidFill>
            <a:srgbClr val="F1F2F4"/>
          </a:solidFill>
          <a:ln/>
        </p:spPr>
      </p:sp>
      <p:sp>
        <p:nvSpPr>
          <p:cNvPr id="25" name="Shape 23"/>
          <p:cNvSpPr/>
          <p:nvPr/>
        </p:nvSpPr>
        <p:spPr>
          <a:xfrm>
            <a:off x="694944" y="3977640"/>
            <a:ext cx="566928" cy="292608"/>
          </a:xfrm>
          <a:prstGeom prst="roundRect">
            <a:avLst>
              <a:gd name="adj" fmla="val 15625"/>
            </a:avLst>
          </a:prstGeom>
          <a:solidFill>
            <a:srgbClr val="E2EEE8"/>
          </a:solidFill>
          <a:ln/>
        </p:spPr>
      </p:sp>
      <p:sp>
        <p:nvSpPr>
          <p:cNvPr id="26" name="Text 24"/>
          <p:cNvSpPr/>
          <p:nvPr/>
        </p:nvSpPr>
        <p:spPr>
          <a:xfrm>
            <a:off x="694944" y="397764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6B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408176" y="3904488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냉각 · 승온 · 인장 3스텝 해석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65776" y="390448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 / 500 / 1000 °C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66928" y="4462272"/>
            <a:ext cx="7360920" cy="530352"/>
          </a:xfrm>
          <a:prstGeom prst="roundRect">
            <a:avLst>
              <a:gd name="adj" fmla="val 10345"/>
            </a:avLst>
          </a:prstGeom>
          <a:solidFill>
            <a:srgbClr val="F1F2F4"/>
          </a:solidFill>
          <a:ln/>
        </p:spPr>
      </p:sp>
      <p:sp>
        <p:nvSpPr>
          <p:cNvPr id="30" name="Shape 28"/>
          <p:cNvSpPr/>
          <p:nvPr/>
        </p:nvSpPr>
        <p:spPr>
          <a:xfrm>
            <a:off x="694944" y="4581144"/>
            <a:ext cx="566928" cy="292608"/>
          </a:xfrm>
          <a:prstGeom prst="roundRect">
            <a:avLst>
              <a:gd name="adj" fmla="val 15625"/>
            </a:avLst>
          </a:prstGeom>
          <a:solidFill>
            <a:srgbClr val="E2EEE8"/>
          </a:solidFill>
          <a:ln/>
        </p:spPr>
      </p:sp>
      <p:sp>
        <p:nvSpPr>
          <p:cNvPr id="31" name="Text 29"/>
          <p:cNvSpPr/>
          <p:nvPr/>
        </p:nvSpPr>
        <p:spPr>
          <a:xfrm>
            <a:off x="694944" y="4581144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6B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408176" y="4507992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손상 후 균질화 강성 6×6 추출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65776" y="450799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해석 없이 기존 odb 에서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66928" y="5065776"/>
            <a:ext cx="7360920" cy="530352"/>
          </a:xfrm>
          <a:prstGeom prst="roundRect">
            <a:avLst>
              <a:gd name="adj" fmla="val 10345"/>
            </a:avLst>
          </a:prstGeom>
          <a:solidFill>
            <a:srgbClr val="F1F2F4"/>
          </a:solidFill>
          <a:ln/>
        </p:spPr>
      </p:sp>
      <p:sp>
        <p:nvSpPr>
          <p:cNvPr id="35" name="Shape 33"/>
          <p:cNvSpPr/>
          <p:nvPr/>
        </p:nvSpPr>
        <p:spPr>
          <a:xfrm>
            <a:off x="694944" y="5184648"/>
            <a:ext cx="566928" cy="292608"/>
          </a:xfrm>
          <a:prstGeom prst="roundRect">
            <a:avLst>
              <a:gd name="adj" fmla="val 15625"/>
            </a:avLst>
          </a:prstGeom>
          <a:solidFill>
            <a:srgbClr val="F6EDD9"/>
          </a:solidFill>
          <a:ln/>
        </p:spPr>
      </p:sp>
      <p:sp>
        <p:nvSpPr>
          <p:cNvPr id="36" name="Text 34"/>
          <p:cNvSpPr/>
          <p:nvPr/>
        </p:nvSpPr>
        <p:spPr>
          <a:xfrm>
            <a:off x="694944" y="5184648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C6B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408176" y="5111496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PAPERFAITH 체인 P0 / P1 / P2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065776" y="5111496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3개 동시 실행 중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66928" y="5669280"/>
            <a:ext cx="7360920" cy="530352"/>
          </a:xfrm>
          <a:prstGeom prst="roundRect">
            <a:avLst>
              <a:gd name="adj" fmla="val 10345"/>
            </a:avLst>
          </a:prstGeom>
          <a:solidFill>
            <a:srgbClr val="F1F2F4"/>
          </a:solidFill>
          <a:ln/>
        </p:spPr>
      </p:sp>
      <p:sp>
        <p:nvSpPr>
          <p:cNvPr id="40" name="Shape 38"/>
          <p:cNvSpPr/>
          <p:nvPr/>
        </p:nvSpPr>
        <p:spPr>
          <a:xfrm>
            <a:off x="694944" y="5788152"/>
            <a:ext cx="566928" cy="292608"/>
          </a:xfrm>
          <a:prstGeom prst="roundRect">
            <a:avLst>
              <a:gd name="adj" fmla="val 15625"/>
            </a:avLst>
          </a:prstGeom>
          <a:solidFill>
            <a:srgbClr val="E6E9ED"/>
          </a:solidFill>
          <a:ln/>
        </p:spPr>
      </p:sp>
      <p:sp>
        <p:nvSpPr>
          <p:cNvPr id="41" name="Text 39"/>
          <p:cNvSpPr/>
          <p:nvPr/>
        </p:nvSpPr>
        <p:spPr>
          <a:xfrm>
            <a:off x="694944" y="5788152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예정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408176" y="5715000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기지 소성 · 얀 Eq.17/18 · 메쉬 수렴성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065776" y="571500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미구현 / 미검증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229600" y="1444752"/>
            <a:ext cx="3392424" cy="2395728"/>
          </a:xfrm>
          <a:prstGeom prst="roundRect">
            <a:avLst>
              <a:gd name="adj" fmla="val 2290"/>
            </a:avLst>
          </a:prstGeom>
          <a:solidFill>
            <a:srgbClr val="24282E"/>
          </a:solidFill>
          <a:ln/>
        </p:spPr>
      </p:sp>
      <p:sp>
        <p:nvSpPr>
          <p:cNvPr id="45" name="Text 43"/>
          <p:cNvSpPr/>
          <p:nvPr/>
        </p:nvSpPr>
        <p:spPr>
          <a:xfrm>
            <a:off x="8449056" y="160934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논문 대비 편차 등록부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8449056" y="1993392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6CDD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51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9253728" y="19933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CDD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논문과 동일함이 검증됨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8449056" y="2450592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0B2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9253728" y="24505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CDD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논문에 없어 임의로 정함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8449056" y="2907792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95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000" dirty="0"/>
          </a:p>
        </p:txBody>
      </p:sp>
      <p:sp>
        <p:nvSpPr>
          <p:cNvPr id="51" name="Text 49"/>
          <p:cNvSpPr/>
          <p:nvPr/>
        </p:nvSpPr>
        <p:spPr>
          <a:xfrm>
            <a:off x="9253728" y="29077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CDD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논문에 없어 역보정함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8449056" y="3364992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0B2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2000" dirty="0"/>
          </a:p>
        </p:txBody>
      </p:sp>
      <p:sp>
        <p:nvSpPr>
          <p:cNvPr id="53" name="Text 51"/>
          <p:cNvSpPr/>
          <p:nvPr/>
        </p:nvSpPr>
        <p:spPr>
          <a:xfrm>
            <a:off x="9253728" y="33649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CDD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논문과 명시적으로 다름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8229600" y="3950208"/>
            <a:ext cx="1627632" cy="1170432"/>
          </a:xfrm>
          <a:prstGeom prst="roundRect">
            <a:avLst>
              <a:gd name="adj" fmla="val 4688"/>
            </a:avLst>
          </a:prstGeom>
          <a:solidFill>
            <a:srgbClr val="E3ECF0"/>
          </a:solidFill>
          <a:ln/>
        </p:spPr>
      </p:sp>
      <p:sp>
        <p:nvSpPr>
          <p:cNvPr id="55" name="Text 53"/>
          <p:cNvSpPr/>
          <p:nvPr/>
        </p:nvSpPr>
        <p:spPr>
          <a:xfrm>
            <a:off x="8229600" y="4059936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UMAT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8229600" y="4297680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F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V2_7</a:t>
            </a:r>
            <a:endParaRPr lang="en-US" sz="2600" dirty="0"/>
          </a:p>
        </p:txBody>
      </p:sp>
      <p:sp>
        <p:nvSpPr>
          <p:cNvPr id="57" name="Shape 55"/>
          <p:cNvSpPr/>
          <p:nvPr/>
        </p:nvSpPr>
        <p:spPr>
          <a:xfrm>
            <a:off x="9994392" y="3950208"/>
            <a:ext cx="1627632" cy="1170432"/>
          </a:xfrm>
          <a:prstGeom prst="roundRect">
            <a:avLst>
              <a:gd name="adj" fmla="val 4688"/>
            </a:avLst>
          </a:prstGeom>
          <a:solidFill>
            <a:srgbClr val="FAE7DF"/>
          </a:solidFill>
          <a:ln/>
        </p:spPr>
      </p:sp>
      <p:sp>
        <p:nvSpPr>
          <p:cNvPr id="58" name="Text 56"/>
          <p:cNvSpPr/>
          <p:nvPr/>
        </p:nvSpPr>
        <p:spPr>
          <a:xfrm>
            <a:off x="9994392" y="4059936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5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해석 트랙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9994392" y="4297680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D95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Lv 8/10</a:t>
            </a:r>
            <a:endParaRPr lang="en-US" sz="2300" dirty="0"/>
          </a:p>
        </p:txBody>
      </p:sp>
      <p:sp>
        <p:nvSpPr>
          <p:cNvPr id="60" name="Text 58"/>
          <p:cNvSpPr/>
          <p:nvPr/>
        </p:nvSpPr>
        <p:spPr>
          <a:xfrm>
            <a:off x="8229600" y="5230368"/>
            <a:ext cx="3392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형상 · 경계조건 · 물성 · 구성모델은 서 있다.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것은 손상 물리를 논문 수준으로 끌어올리는 일.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566928" y="63276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 — verification/PAPER_DEVIATION_REGISTER.md §0, 랩미팅 브리프 §3·§8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D95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TARGET PAPER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재현 대상 — Zhang et al. (2022)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444752"/>
            <a:ext cx="5166360" cy="4114800"/>
          </a:xfrm>
          <a:prstGeom prst="roundRect">
            <a:avLst>
              <a:gd name="adj" fmla="val 1333"/>
            </a:avLst>
          </a:prstGeom>
          <a:solidFill>
            <a:srgbClr val="F1F2F4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00784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5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828800" y="170078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Ceramics International 48 (2022) 3109–3124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226771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5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재료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828800" y="226771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2D 평직(plain-weave) C/SiC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283464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5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828800" y="28346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PIP · 제조온도 1050 °C · Vf ≈ 40 %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2960" y="3401568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5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실험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828800" y="340156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진공 · ASTM C1359-13 · 0.5 mm/min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22960" y="3968496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5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시편 수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828800" y="396849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온도당 5개 · 23 / 500 / 1000 °C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2960" y="4535424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5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해석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828800" y="453542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Abaqus UMAT · 점진적 손상 (CDM)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144768" y="14447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재현 목표 — 논문 Table 3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44768" y="1792224"/>
          <a:ext cx="54864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691640"/>
                <a:gridCol w="1508760"/>
                <a:gridCol w="11887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온도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B7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실험 평균 [MPa]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B7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논문 해석 [MPa]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B7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논문 오차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B7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23 °C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116.17 ± 8.78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128.45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10.31 %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500 °C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160.19 ± 14.83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179.42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12.00 %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1000 °C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173.28 ± 12.94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199.15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14.93 %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6144768" y="3401568"/>
            <a:ext cx="5486400" cy="2157984"/>
          </a:xfrm>
          <a:prstGeom prst="roundRect">
            <a:avLst>
              <a:gd name="adj" fmla="val 2542"/>
            </a:avLst>
          </a:prstGeom>
          <a:solidFill>
            <a:srgbClr val="24282E"/>
          </a:solidFill>
          <a:ln/>
        </p:spPr>
      </p:sp>
      <p:sp>
        <p:nvSpPr>
          <p:cNvPr id="20" name="Text 17"/>
          <p:cNvSpPr/>
          <p:nvPr/>
        </p:nvSpPr>
        <p:spPr>
          <a:xfrm>
            <a:off x="6364224" y="35661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5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논문의 주장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6364224" y="3877056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6CDD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냉각(1050 → 23 °C) 시 CTE 불일치로 기지에 인장 · 얀에 압축 잔류응력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6CDD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인장 잔류응력이 상온에서 기지를 미리 손상시켜 강도를 깎는다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6CDD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시험온도를 올리면 잔류응력이 완화 · 반전되어 강도가 오른다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 °C 대비 +39.7 % (500 °C) · +55.0 % (1000 °C)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566928" y="63276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 — 논문 Table 3, §2 Experimental procedure · §3.2.4 Analysis procedure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D95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SPECIMEN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논문의 시편 — 여기서 출발한다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6903720" cy="2788920"/>
          </a:xfrm>
          <a:prstGeom prst="roundRect">
            <a:avLst>
              <a:gd name="adj" fmla="val 1967"/>
            </a:avLst>
          </a:prstGeom>
          <a:solidFill>
            <a:srgbClr val="F1F2F4"/>
          </a:solidFill>
          <a:ln/>
        </p:spPr>
      </p:sp>
      <p:pic>
        <p:nvPicPr>
          <p:cNvPr id="5" name="Image 0" descr="/tmp/claude-0/-home-user-CDM-UMAT/02c20b80-a460-5fa7-915d-749b71e710a3/scratchpad/figs/fig1_sp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627632"/>
            <a:ext cx="6501384" cy="2468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4297680"/>
            <a:ext cx="6903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논문 Fig. 1 — 인장 시편 형상 (단위: mm)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699248" y="1463040"/>
            <a:ext cx="3922776" cy="2788920"/>
          </a:xfrm>
          <a:prstGeom prst="roundRect">
            <a:avLst>
              <a:gd name="adj" fmla="val 1967"/>
            </a:avLst>
          </a:prstGeom>
          <a:solidFill>
            <a:srgbClr val="E3ECF0"/>
          </a:solidFill>
          <a:ln/>
        </p:spPr>
      </p:sp>
      <p:sp>
        <p:nvSpPr>
          <p:cNvPr id="8" name="Text 5"/>
          <p:cNvSpPr/>
          <p:nvPr/>
        </p:nvSpPr>
        <p:spPr>
          <a:xfrm>
            <a:off x="7918704" y="16093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F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시편 제원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918704" y="195681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전장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646920" y="195681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3F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185 mm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918704" y="232257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게이지 길이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646920" y="232257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3F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 mm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918704" y="268833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게이지 폭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646920" y="268833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3F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mm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918704" y="305409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파지부 폭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9646920" y="305409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3F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mm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7918704" y="341985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두께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9646920" y="341985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3F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3.5 mm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7918704" y="378561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필렛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9646920" y="378561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3F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R15 / R10 · 17°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66928" y="4553712"/>
            <a:ext cx="11057839" cy="1316736"/>
          </a:xfrm>
          <a:prstGeom prst="roundRect">
            <a:avLst>
              <a:gd name="adj" fmla="val 4167"/>
            </a:avLst>
          </a:prstGeom>
          <a:solidFill>
            <a:srgbClr val="FAE7DF"/>
          </a:solidFill>
          <a:ln/>
        </p:spPr>
      </p:sp>
      <p:sp>
        <p:nvSpPr>
          <p:cNvPr id="22" name="Text 19"/>
          <p:cNvSpPr/>
          <p:nvPr/>
        </p:nvSpPr>
        <p:spPr>
          <a:xfrm>
            <a:off x="841248" y="470001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5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627632" y="4663440"/>
            <a:ext cx="96862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시편의 게이지부 안에는 평직 단위셀이 100개 넘게 반복되어 있다. 전부 모델링할 수 없다.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대신 단위셀 하나만 그리고, 주기경계조건으로 “무한히 반복된 것처럼” 만든다.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566928" y="63276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 — 논문 Fig. 1 (치수 직접 판독)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428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D95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SPECIMEN → RVE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시편을 다 못 그린다 — 그래서 단위셀 하나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3346704" cy="1975104"/>
          </a:xfrm>
          <a:prstGeom prst="roundRect">
            <a:avLst>
              <a:gd name="adj" fmla="val 2778"/>
            </a:avLst>
          </a:prstGeom>
          <a:solidFill>
            <a:srgbClr val="333941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645920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5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시편 게이지부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04672" y="1938528"/>
            <a:ext cx="2871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CDD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 × 6 × 3.5 mm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04672" y="2340864"/>
            <a:ext cx="2871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630 mm³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968496" y="2194560"/>
            <a:ext cx="402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416552" y="1481328"/>
            <a:ext cx="3346704" cy="1975104"/>
          </a:xfrm>
          <a:prstGeom prst="roundRect">
            <a:avLst>
              <a:gd name="adj" fmla="val 2778"/>
            </a:avLst>
          </a:prstGeom>
          <a:solidFill>
            <a:srgbClr val="333941"/>
          </a:solidFill>
          <a:ln/>
        </p:spPr>
      </p:sp>
      <p:sp>
        <p:nvSpPr>
          <p:cNvPr id="10" name="Text 8"/>
          <p:cNvSpPr/>
          <p:nvPr/>
        </p:nvSpPr>
        <p:spPr>
          <a:xfrm>
            <a:off x="4654296" y="1645920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FB0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평직 단위셀 = RVE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654296" y="1938528"/>
            <a:ext cx="2871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CDD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3.5 × 3.5 × 0.4334 mm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54296" y="2340864"/>
            <a:ext cx="2871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5.31 mm³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7818120" y="2194560"/>
            <a:ext cx="402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66176" y="1481328"/>
            <a:ext cx="3346704" cy="1975104"/>
          </a:xfrm>
          <a:prstGeom prst="roundRect">
            <a:avLst>
              <a:gd name="adj" fmla="val 2778"/>
            </a:avLst>
          </a:prstGeom>
          <a:solidFill>
            <a:srgbClr val="333941"/>
          </a:solidFill>
          <a:ln/>
        </p:spPr>
      </p:sp>
      <p:sp>
        <p:nvSpPr>
          <p:cNvPr id="15" name="Text 13"/>
          <p:cNvSpPr/>
          <p:nvPr/>
        </p:nvSpPr>
        <p:spPr>
          <a:xfrm>
            <a:off x="8503920" y="1645920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FBF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둘의 비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503920" y="1938528"/>
            <a:ext cx="2871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CDD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게이지부 ÷ RVE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503920" y="2340864"/>
            <a:ext cx="2871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≈ 119 개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566928" y="3712464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5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3.5 mm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075688" y="3712464"/>
            <a:ext cx="95490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6CDD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평직 1주기 — 타원 폭 1.28 mm 얀이 warp 2 · weft 2 로 교차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66928" y="4169664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5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0.4334 mm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075688" y="4169664"/>
            <a:ext cx="95490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6CDD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ply 두께 — 시편 3.5 mm ÷ 0.4334 ≈ 8 층에 해당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66928" y="4626864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5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Vf 40 %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075688" y="4626864"/>
            <a:ext cx="95490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6CDD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얀 체적분율 × 얀 내부 섬유분율 → 시편과 동일한 섬유량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6928" y="5175504"/>
            <a:ext cx="11057839" cy="932688"/>
          </a:xfrm>
          <a:prstGeom prst="roundRect">
            <a:avLst>
              <a:gd name="adj" fmla="val 5882"/>
            </a:avLst>
          </a:prstGeom>
          <a:solidFill>
            <a:srgbClr val="3A2C25"/>
          </a:solidFill>
          <a:ln/>
        </p:spPr>
      </p:sp>
      <p:sp>
        <p:nvSpPr>
          <p:cNvPr id="25" name="Text 23"/>
          <p:cNvSpPr/>
          <p:nvPr/>
        </p:nvSpPr>
        <p:spPr>
          <a:xfrm>
            <a:off x="859536" y="5175504"/>
            <a:ext cx="10472623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5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PBC 가 이 축소를 정당화한다.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RVE 하나에 주기경계조건을 걸면, 그 셀은 무한히 반복된 매질의 한 조각으로 거동한다.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66928" y="63276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3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체적 630 / 5.31 mm³ 와 8층은 논문 치수로부터 계산한 값 — 논문에 명시된 수치가 아님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D95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TEXGEN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논문의 형상 모델링 — CT → 타원 → TexGen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426464"/>
            <a:ext cx="11057839" cy="2487168"/>
          </a:xfrm>
          <a:prstGeom prst="roundRect">
            <a:avLst>
              <a:gd name="adj" fmla="val 2206"/>
            </a:avLst>
          </a:prstGeom>
          <a:solidFill>
            <a:srgbClr val="F1F2F4"/>
          </a:solidFill>
          <a:ln/>
        </p:spPr>
      </p:sp>
      <p:pic>
        <p:nvPicPr>
          <p:cNvPr id="5" name="Image 0" descr="/tmp/claude-0/-home-user-CDM-UMAT/02c20b80-a460-5fa7-915d-749b71e710a3/scratchpad/figs/p5-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627632"/>
            <a:ext cx="10579608" cy="21122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3712464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논문 Fig. 2 — Modeling process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66928" y="4041648"/>
            <a:ext cx="35661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0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86384" y="4187952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5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(a) CT 스캔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86384" y="4498848"/>
            <a:ext cx="31272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X-ray CT · 120 kV / 300 μA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voxel 0.2 mm — 실제 내부 구조 획득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52544" y="4041648"/>
            <a:ext cx="35661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0E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0" y="4187952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5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(b) 타원 특성화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572000" y="4498848"/>
            <a:ext cx="31272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얀 단면을 타원으로 근사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장축 1.28 mm · 단축 0.20 mm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138160" y="4041648"/>
            <a:ext cx="3566160" cy="1371600"/>
          </a:xfrm>
          <a:prstGeom prst="roundRect">
            <a:avLst>
              <a:gd name="adj" fmla="val 4000"/>
            </a:avLst>
          </a:prstGeom>
          <a:solidFill>
            <a:srgbClr val="E3ECF0"/>
          </a:solidFill>
          <a:ln w="12700">
            <a:solidFill>
              <a:srgbClr val="DCE0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57616" y="4187952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F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(c) TexGen 생성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357616" y="4498848"/>
            <a:ext cx="31272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평직 RVC 생성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3.5 × 3.5 × 0.4334 mm · Vf 40 %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66928" y="5559552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F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Fig. 2(c) 의 좌표축이 그대로 증거다 — X · Y : −0.875 ~ 2.625 (= 3.5 mm),  Z : −0.0197 ~ 0.4137 (= 0.4334 mm)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66928" y="63276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 — 논문 §3.2.1 RVC model, Fig. 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D95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OUR RVE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RVE — 무엇이 같고 무엇이 다른가</a:t>
            </a:r>
            <a:endParaRPr lang="en-US" sz="2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44752"/>
          <a:ext cx="736092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1920240"/>
                <a:gridCol w="2148840"/>
                <a:gridCol w="114300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B7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논문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B7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우리 모델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B7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판정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B7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RVE 평면 치수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3.5 × 3.5 mm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3.5 × 3.5 mm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F6B4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일치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RVE 두께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0.4334 mm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0.44 mm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9C6B1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+1.5 %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얀 단면 타원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1.28 × 0.20 mm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1.28 × 0.20 mm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F6B4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일치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섬유체적분율 Vf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40 %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0.400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F6B4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일치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116,724 C3D4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174,405 C3D4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9C6B1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1.49 배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특성 요소크기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명시 없음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0.0314 mm (체적가중)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6E768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형상 생성 도구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TexGen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TexGen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F6B4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일치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229600" y="1444752"/>
            <a:ext cx="3392424" cy="1810512"/>
          </a:xfrm>
          <a:prstGeom prst="roundRect">
            <a:avLst>
              <a:gd name="adj" fmla="val 3030"/>
            </a:avLst>
          </a:prstGeom>
          <a:solidFill>
            <a:srgbClr val="FAE7DF"/>
          </a:solidFill>
          <a:ln/>
        </p:spPr>
      </p:sp>
      <p:sp>
        <p:nvSpPr>
          <p:cNvPr id="6" name="Text 3"/>
          <p:cNvSpPr/>
          <p:nvPr/>
        </p:nvSpPr>
        <p:spPr>
          <a:xfrm>
            <a:off x="8449056" y="160934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5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요소 수가 1.49 배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8449056" y="1938528"/>
            <a:ext cx="29718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논문보다 촘촘하다. 재료점 수준에서는 요소크기 0.0285–0.2000 mm 에 대해 소산에너지 편차 1.00000 배로 검증했으나, RVE 수준 메쉬 수렴은 아직 미검증이다.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8229600" y="3383280"/>
            <a:ext cx="3392424" cy="1764792"/>
          </a:xfrm>
          <a:prstGeom prst="roundRect">
            <a:avLst>
              <a:gd name="adj" fmla="val 3109"/>
            </a:avLst>
          </a:prstGeom>
          <a:solidFill>
            <a:srgbClr val="F1F2F4"/>
          </a:solidFill>
          <a:ln/>
        </p:spPr>
      </p:sp>
      <p:sp>
        <p:nvSpPr>
          <p:cNvPr id="9" name="Text 6"/>
          <p:cNvSpPr/>
          <p:nvPr/>
        </p:nvSpPr>
        <p:spPr>
          <a:xfrm>
            <a:off x="8449056" y="352958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F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경향 확인용 coarse 메쉬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449056" y="3858768"/>
            <a:ext cx="29718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26,452 C3D4 · 5,686 절점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Vf 39.46 % · le ≈ 0.102 mm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재료카드 · 같은 스텝 재사용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66928" y="4700016"/>
            <a:ext cx="7360920" cy="1298448"/>
          </a:xfrm>
          <a:prstGeom prst="roundRect">
            <a:avLst>
              <a:gd name="adj" fmla="val 4225"/>
            </a:avLst>
          </a:prstGeom>
          <a:solidFill>
            <a:srgbClr val="E2EEE8"/>
          </a:solidFill>
          <a:ln/>
        </p:spPr>
      </p:sp>
      <p:sp>
        <p:nvSpPr>
          <p:cNvPr id="12" name="Text 9"/>
          <p:cNvSpPr/>
          <p:nvPr/>
        </p:nvSpPr>
        <p:spPr>
          <a:xfrm>
            <a:off x="841248" y="4700016"/>
            <a:ext cx="68122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두께 +1.5 % 를 뺀 나머지 형상 파라미터는 논문과 정확히 같다. 형상은 재현 논쟁의 대상이 아니다.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66928" y="63276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 — PAPER_DEVIATION_REGISTER §2, 랩미팅 브리프 §3.1, abaqus/meshes/README.md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D95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TEXGEN OUTPUT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TexGen이 내놓는 것 — 세 파일은 한 세트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444752"/>
            <a:ext cx="3566160" cy="2999232"/>
          </a:xfrm>
          <a:prstGeom prst="roundRect">
            <a:avLst>
              <a:gd name="adj" fmla="val 1829"/>
            </a:avLst>
          </a:prstGeom>
          <a:solidFill>
            <a:srgbClr val="F1F2F4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627632"/>
            <a:ext cx="3090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5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.inp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04672" y="2139696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메쉬 · 요소집합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04672" y="2487168"/>
            <a:ext cx="30906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절점 / C3D4 요소</a:t>
            </a:r>
            <a:endParaRPr lang="en-US" sz="11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ElSet: Matrix, Yarn0–Yarn3</a:t>
            </a:r>
            <a:endParaRPr lang="en-US" sz="11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주기경계 *Equation 57식</a:t>
            </a:r>
            <a:endParaRPr lang="en-US" sz="11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드라이버 절점 6개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52544" y="1444752"/>
            <a:ext cx="3566160" cy="2999232"/>
          </a:xfrm>
          <a:prstGeom prst="roundRect">
            <a:avLst>
              <a:gd name="adj" fmla="val 1829"/>
            </a:avLst>
          </a:prstGeom>
          <a:solidFill>
            <a:srgbClr val="F1F2F4"/>
          </a:solidFill>
          <a:ln/>
        </p:spPr>
      </p:sp>
      <p:sp>
        <p:nvSpPr>
          <p:cNvPr id="9" name="Text 7"/>
          <p:cNvSpPr/>
          <p:nvPr/>
        </p:nvSpPr>
        <p:spPr>
          <a:xfrm>
            <a:off x="4590288" y="1627632"/>
            <a:ext cx="3090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6B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.ori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90288" y="2139696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요소별 섬유 방향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90288" y="2487168"/>
            <a:ext cx="30906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요소마다 방향 2벡터</a:t>
            </a:r>
            <a:endParaRPr lang="en-US" sz="11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라벨 1..N 연속</a:t>
            </a:r>
            <a:endParaRPr lang="en-US" sz="11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얀 굴곡(crimp)이 여기 들어 있음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1444752"/>
            <a:ext cx="3566160" cy="2999232"/>
          </a:xfrm>
          <a:prstGeom prst="roundRect">
            <a:avLst>
              <a:gd name="adj" fmla="val 1829"/>
            </a:avLst>
          </a:prstGeom>
          <a:solidFill>
            <a:srgbClr val="F1F2F4"/>
          </a:solidFill>
          <a:ln/>
        </p:spPr>
      </p:sp>
      <p:sp>
        <p:nvSpPr>
          <p:cNvPr id="13" name="Text 11"/>
          <p:cNvSpPr/>
          <p:nvPr/>
        </p:nvSpPr>
        <p:spPr>
          <a:xfrm>
            <a:off x="8375904" y="1627632"/>
            <a:ext cx="3090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6B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.eld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375904" y="2139696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요소별 얀 정보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375904" y="2487168"/>
            <a:ext cx="30906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얀 인덱스</a:t>
            </a:r>
            <a:endParaRPr lang="en-US" sz="11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얀 중심선 상대좌표</a:t>
            </a:r>
            <a:endParaRPr lang="en-US" sz="11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체적분율 · 얀 표면까지 거리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4626864"/>
            <a:ext cx="11057839" cy="1225296"/>
          </a:xfrm>
          <a:prstGeom prst="roundRect">
            <a:avLst>
              <a:gd name="adj" fmla="val 4478"/>
            </a:avLst>
          </a:prstGeom>
          <a:solidFill>
            <a:srgbClr val="FAE7DF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" y="479145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5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700784" y="4718304"/>
            <a:ext cx="96313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.ori 는 요소별 데이터라 메쉬와 한 몸이다. 새 메쉬에 옛 .ori 를 쓰면 에러 없이 섬유 방향이 틀린 채로 수렴한다.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메쉬를 다시 뽑을 때마다 .ori 도 함께 뽑고, 섬유체적비와 얀 평균 방향을 다시 계산한 뒤 쓴다.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6928" y="63276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 — abaqus/meshes/README.md, abaqus/MESH_REGEN_GUIDE.md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D95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ORIENTATION CHECK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얀이 제대로 누워 있는가 — 배향 검증</a:t>
            </a:r>
            <a:endParaRPr lang="en-US" sz="2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44752"/>
          <a:ext cx="7360920" cy="914400"/>
        </p:xfrm>
        <a:graphic>
          <a:graphicData uri="http://schemas.openxmlformats.org/drawingml/2006/table">
            <a:tbl>
              <a:tblPr/>
              <a:tblGrid>
                <a:gridCol w="2606040"/>
                <a:gridCol w="3703320"/>
                <a:gridCol w="105156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검사 항목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B7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결과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B7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판정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B7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.ori 행 수 vs 요소 수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26,452 = 26,452 (라벨 1..26452 연속)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F6B4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통과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방향 누락 요소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 개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F6B4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통과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Yarn0 / Yarn1 평균 방향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(0.993, 0, ±0.008) → warp ∥ x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F6B4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통과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Yarn2 / Yarn3 평균 방향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(0, 0.993, ±0.004) → weft ∥ y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F6B4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통과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기지 방향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100 % 단위행렬 (등방성이라 정상)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F6B4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통과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섬유체적비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얀 0.4982 × 얀내부 Vf 0.79194 = 39.46 %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F6B4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통과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RVE 충전율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메쉬가 박스를 100.0000 % 채움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F6B4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통과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229600" y="1444752"/>
            <a:ext cx="3392424" cy="2084832"/>
          </a:xfrm>
          <a:prstGeom prst="roundRect">
            <a:avLst>
              <a:gd name="adj" fmla="val 2632"/>
            </a:avLst>
          </a:prstGeom>
          <a:solidFill>
            <a:srgbClr val="E3ECF0"/>
          </a:solidFill>
          <a:ln/>
        </p:spPr>
      </p:sp>
      <p:sp>
        <p:nvSpPr>
          <p:cNvPr id="6" name="Text 3"/>
          <p:cNvSpPr/>
          <p:nvPr/>
        </p:nvSpPr>
        <p:spPr>
          <a:xfrm>
            <a:off x="8449056" y="1609344"/>
            <a:ext cx="2971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3F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0.993 &lt; 1 은 오류가 아니다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8449056" y="2176272"/>
            <a:ext cx="29718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방향벡터 크기가 1보다 작다는 것은 얀이 굴곡(crimp)져 있다는 뜻이다. 평직에서는 정상이며, 오히려 얀이 곧게 펴져 있으면 평직이 아니다.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8229600" y="3657600"/>
            <a:ext cx="3392424" cy="1956816"/>
          </a:xfrm>
          <a:prstGeom prst="roundRect">
            <a:avLst>
              <a:gd name="adj" fmla="val 2804"/>
            </a:avLst>
          </a:prstGeom>
          <a:solidFill>
            <a:srgbClr val="F1F2F4"/>
          </a:solidFill>
          <a:ln/>
        </p:spPr>
      </p:sp>
      <p:sp>
        <p:nvSpPr>
          <p:cNvPr id="9" name="Text 6"/>
          <p:cNvSpPr/>
          <p:nvPr/>
        </p:nvSpPr>
        <p:spPr>
          <a:xfrm>
            <a:off x="8449056" y="380390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드라이버 매핑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449056" y="4114800"/>
            <a:ext cx="2971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95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= e_x    1 = e_y    2 = e_z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95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= e_xy   4 = e_xz   5 = e_yz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449056" y="4791456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전단 순서를 잘못 알면 G12 와 G13 이 뒤바뀐 채 조용히 수렴한다.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66928" y="5614416"/>
            <a:ext cx="7360920" cy="621792"/>
          </a:xfrm>
          <a:prstGeom prst="roundRect">
            <a:avLst>
              <a:gd name="adj" fmla="val 8824"/>
            </a:avLst>
          </a:prstGeom>
          <a:solidFill>
            <a:srgbClr val="E2EEE8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5614416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시점 2026-07-28 · 솔버 없이 텍스트만 읽어서 전부 확인 — coarse 메쉬(26,452 요소) 기준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66928" y="63276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 — abaqus/meshes/README.md 검증표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428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D95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PERIODIC BOUNDARY CONDITIONS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주기경계조건 — 왜 반드시 필요한가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444752"/>
            <a:ext cx="11057839" cy="1024128"/>
          </a:xfrm>
          <a:prstGeom prst="roundRect">
            <a:avLst>
              <a:gd name="adj" fmla="val 5357"/>
            </a:avLst>
          </a:prstGeom>
          <a:solidFill>
            <a:srgbClr val="333941"/>
          </a:solidFill>
          <a:ln/>
        </p:spPr>
      </p:sp>
      <p:sp>
        <p:nvSpPr>
          <p:cNvPr id="5" name="Text 3"/>
          <p:cNvSpPr/>
          <p:nvPr/>
        </p:nvSpPr>
        <p:spPr>
          <a:xfrm>
            <a:off x="859536" y="1444752"/>
            <a:ext cx="10472623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“Since the RVC was used, the periodic boundary conditions should be applied to ensure the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compatibility of deformations and continuity of stress.”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95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— 논문 §3.2.2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2688336"/>
            <a:ext cx="5394960" cy="2743200"/>
          </a:xfrm>
          <a:prstGeom prst="roundRect">
            <a:avLst>
              <a:gd name="adj" fmla="val 2000"/>
            </a:avLst>
          </a:prstGeom>
          <a:solidFill>
            <a:srgbClr val="333941"/>
          </a:solidFill>
          <a:ln/>
        </p:spPr>
      </p:sp>
      <p:sp>
        <p:nvSpPr>
          <p:cNvPr id="7" name="Shape 5"/>
          <p:cNvSpPr/>
          <p:nvPr/>
        </p:nvSpPr>
        <p:spPr>
          <a:xfrm>
            <a:off x="804672" y="2871216"/>
            <a:ext cx="2377440" cy="365760"/>
          </a:xfrm>
          <a:prstGeom prst="roundRect">
            <a:avLst>
              <a:gd name="adj" fmla="val 12500"/>
            </a:avLst>
          </a:prstGeom>
          <a:solidFill>
            <a:srgbClr val="8E3B24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87121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자유단으로 두면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" y="3346704"/>
            <a:ext cx="49194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6CDD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RVE 표면이 실제로는 이웃 셀에 물려 있는데 자유롭게 벌어진다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6CDD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구속이 없으니 강성이 과소평가된다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6CDD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마주보는 면에서 응력이 불연속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6CDD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셀 크기를 키울수록 답이 계속 바뀐다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45352" y="2688336"/>
            <a:ext cx="5394960" cy="2743200"/>
          </a:xfrm>
          <a:prstGeom prst="roundRect">
            <a:avLst>
              <a:gd name="adj" fmla="val 2000"/>
            </a:avLst>
          </a:prstGeom>
          <a:solidFill>
            <a:srgbClr val="333941"/>
          </a:solidFill>
          <a:ln/>
        </p:spPr>
      </p:sp>
      <p:sp>
        <p:nvSpPr>
          <p:cNvPr id="11" name="Shape 9"/>
          <p:cNvSpPr/>
          <p:nvPr/>
        </p:nvSpPr>
        <p:spPr>
          <a:xfrm>
            <a:off x="6483096" y="2871216"/>
            <a:ext cx="2377440" cy="365760"/>
          </a:xfrm>
          <a:prstGeom prst="roundRect">
            <a:avLst>
              <a:gd name="adj" fmla="val 12500"/>
            </a:avLst>
          </a:prstGeom>
          <a:solidFill>
            <a:srgbClr val="2F5568"/>
          </a:solidFill>
          <a:ln/>
        </p:spPr>
      </p:sp>
      <p:sp>
        <p:nvSpPr>
          <p:cNvPr id="12" name="Text 10"/>
          <p:cNvSpPr/>
          <p:nvPr/>
        </p:nvSpPr>
        <p:spPr>
          <a:xfrm>
            <a:off x="6483096" y="287121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주기경계조건을 걸면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83096" y="3346704"/>
            <a:ext cx="49194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6CDD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마주보는 면의 변위차가 거시 변형률로 고정된다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6CDD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변형 적합성 + 응력 연속성이 동시에 만족된다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6CDD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셀 하나가 무한 반복 매질을 대표한다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6CDD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거시 변형률을 직접 지정하고 거시 응력을 직접 읽을 수 있다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6928" y="5614416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BA4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논문은 Xia 등의 통일 주기경계조건 [31] 을 인용하고, 파이썬 스크립트로 다점구속(MPC)을 생성했다고만 적었다.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BA4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구속식의 구체적 형태는 논문에 없으므로 우리는 TexGen 이 생성한 Xia 형식을 그대로 쓰고, 그 정합성을 직접 감사했다.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D95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IMPLEMENTATION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 — *Equation 57식과 드라이버 절점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444752"/>
            <a:ext cx="5852160" cy="3017520"/>
          </a:xfrm>
          <a:prstGeom prst="roundRect">
            <a:avLst>
              <a:gd name="adj" fmla="val 1818"/>
            </a:avLst>
          </a:prstGeom>
          <a:solidFill>
            <a:srgbClr val="24282E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15910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5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구속식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41248" y="1920240"/>
            <a:ext cx="5303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u_slave - u_master = H . d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 = [ e_x   e_xy  e_xz ]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  0    e_y   e_yz ]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  0     0    e_z  ]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FaceA - FaceB - Lx . U_d0 = 0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4590288"/>
            <a:ext cx="5852160" cy="969264"/>
          </a:xfrm>
          <a:prstGeom prst="roundRect">
            <a:avLst>
              <a:gd name="adj" fmla="val 5660"/>
            </a:avLst>
          </a:prstGeom>
          <a:solidFill>
            <a:srgbClr val="FAE7DF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4590288"/>
            <a:ext cx="53035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5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드라이버 절점의 변위 U 가 곧 거시 변형률 그 자체가 된다.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620256" y="1499616"/>
            <a:ext cx="310896" cy="310896"/>
          </a:xfrm>
          <a:prstGeom prst="ellipse">
            <a:avLst/>
          </a:prstGeom>
          <a:solidFill>
            <a:srgbClr val="D9542B"/>
          </a:solidFill>
          <a:ln/>
        </p:spPr>
      </p:sp>
      <p:sp>
        <p:nvSpPr>
          <p:cNvPr id="10" name="Text 8"/>
          <p:cNvSpPr/>
          <p:nvPr/>
        </p:nvSpPr>
        <p:spPr>
          <a:xfrm>
            <a:off x="6620256" y="1499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059168" y="1444752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*Equation 57 식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059168" y="1719072"/>
            <a:ext cx="4562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마주보는 면의 절점쌍을 격자벡터 하나만큼 묶는다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620256" y="2468880"/>
            <a:ext cx="310896" cy="310896"/>
          </a:xfrm>
          <a:prstGeom prst="ellipse">
            <a:avLst/>
          </a:prstGeom>
          <a:solidFill>
            <a:srgbClr val="D9542B"/>
          </a:solidFill>
          <a:ln/>
        </p:spPr>
      </p:sp>
      <p:sp>
        <p:nvSpPr>
          <p:cNvPr id="14" name="Text 12"/>
          <p:cNvSpPr/>
          <p:nvPr/>
        </p:nvSpPr>
        <p:spPr>
          <a:xfrm>
            <a:off x="6620256" y="2468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059168" y="2414016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드라이버 절점 6개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059168" y="2688336"/>
            <a:ext cx="4562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요소에 물리지 않은 순수 DOF 운반체. 6개 거시 변형률 성분을 직접 구동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620256" y="3438144"/>
            <a:ext cx="310896" cy="310896"/>
          </a:xfrm>
          <a:prstGeom prst="ellipse">
            <a:avLst/>
          </a:prstGeom>
          <a:solidFill>
            <a:srgbClr val="3F6B7D"/>
          </a:solidFill>
          <a:ln/>
        </p:spPr>
      </p:sp>
      <p:sp>
        <p:nvSpPr>
          <p:cNvPr id="18" name="Text 16"/>
          <p:cNvSpPr/>
          <p:nvPr/>
        </p:nvSpPr>
        <p:spPr>
          <a:xfrm>
            <a:off x="6620256" y="34381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059168" y="3383280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코너 1개 고정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059168" y="3657600"/>
            <a:ext cx="4562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1/2/3 방향 고정으로 강체모드 억제 — 없으면 강성행렬이 특이해진다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620256" y="4407408"/>
            <a:ext cx="310896" cy="310896"/>
          </a:xfrm>
          <a:prstGeom prst="ellipse">
            <a:avLst/>
          </a:prstGeom>
          <a:solidFill>
            <a:srgbClr val="3F6B7D"/>
          </a:solidFill>
          <a:ln/>
        </p:spPr>
      </p:sp>
      <p:sp>
        <p:nvSpPr>
          <p:cNvPr id="22" name="Text 20"/>
          <p:cNvSpPr/>
          <p:nvPr/>
        </p:nvSpPr>
        <p:spPr>
          <a:xfrm>
            <a:off x="6620256" y="44074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059168" y="4352544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세트 순서가 곧 짝짓기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059168" y="4626864"/>
            <a:ext cx="4562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*Equation 은 나열 순서대로 짝지으므로 정렬하면 깨진다 (TexGen 이 Unsorted 를 붙이는 이유)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620256" y="5376672"/>
            <a:ext cx="310896" cy="310896"/>
          </a:xfrm>
          <a:prstGeom prst="ellipse">
            <a:avLst/>
          </a:prstGeom>
          <a:solidFill>
            <a:srgbClr val="3F6B7D"/>
          </a:solidFill>
          <a:ln/>
        </p:spPr>
      </p:sp>
      <p:sp>
        <p:nvSpPr>
          <p:cNvPr id="26" name="Text 24"/>
          <p:cNvSpPr/>
          <p:nvPr/>
        </p:nvSpPr>
        <p:spPr>
          <a:xfrm>
            <a:off x="6620256" y="53766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059168" y="5321808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거시 응력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059168" y="5596128"/>
            <a:ext cx="4562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σ = RF / V_box — 메쉬 충전율이 100 % 이기 때문에 성립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66928" y="63276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 — verification/PBC_VALIDATION_GUIDE.md, abaqus/meshes/README.md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D95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VERIFICATION LADDER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검증은 사다리다 — 앞이 통과해야 뒤가 의미를 갖는다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5096" cy="932688"/>
          </a:xfrm>
          <a:prstGeom prst="roundRect">
            <a:avLst>
              <a:gd name="adj" fmla="val 5882"/>
            </a:avLst>
          </a:prstGeom>
          <a:solidFill>
            <a:srgbClr val="E2EEE8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1783080"/>
            <a:ext cx="402336" cy="402336"/>
          </a:xfrm>
          <a:prstGeom prst="ellipse">
            <a:avLst/>
          </a:prstGeom>
          <a:solidFill>
            <a:srgbClr val="D9542B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783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16276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구속식이 기하학적으로 맞는가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63040" y="199339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check_pbc.py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596128" y="180136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Abaqus 불필요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287768" y="180136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~1 초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076688" y="1801368"/>
            <a:ext cx="1234440" cy="365760"/>
          </a:xfrm>
          <a:prstGeom prst="roundRect">
            <a:avLst>
              <a:gd name="adj" fmla="val 12500"/>
            </a:avLst>
          </a:prstGeom>
          <a:solidFill>
            <a:srgbClr val="2F6B4F"/>
          </a:solidFill>
          <a:ln/>
        </p:spPr>
      </p:sp>
      <p:sp>
        <p:nvSpPr>
          <p:cNvPr id="12" name="Text 10"/>
          <p:cNvSpPr/>
          <p:nvPr/>
        </p:nvSpPr>
        <p:spPr>
          <a:xfrm>
            <a:off x="10076688" y="180136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통과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2560320"/>
            <a:ext cx="11055096" cy="932688"/>
          </a:xfrm>
          <a:prstGeom prst="roundRect">
            <a:avLst>
              <a:gd name="adj" fmla="val 5882"/>
            </a:avLst>
          </a:prstGeom>
          <a:solidFill>
            <a:srgbClr val="F1F2F4"/>
          </a:solidFill>
          <a:ln/>
        </p:spPr>
      </p:sp>
      <p:sp>
        <p:nvSpPr>
          <p:cNvPr id="14" name="Shape 12"/>
          <p:cNvSpPr/>
          <p:nvPr/>
        </p:nvSpPr>
        <p:spPr>
          <a:xfrm>
            <a:off x="841248" y="2825496"/>
            <a:ext cx="402336" cy="402336"/>
          </a:xfrm>
          <a:prstGeom prst="ellipse">
            <a:avLst/>
          </a:prstGeom>
          <a:solidFill>
            <a:srgbClr val="3F6B7D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" y="28254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63040" y="267004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패치 테스트 — 정답을 아는 문제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63040" y="303580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make_pbc_check.py → PBC_PATCH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596128" y="2843784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Abaqus 필요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287768" y="284378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 분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076688" y="2843784"/>
            <a:ext cx="1234440" cy="365760"/>
          </a:xfrm>
          <a:prstGeom prst="roundRect">
            <a:avLst>
              <a:gd name="adj" fmla="val 12500"/>
            </a:avLst>
          </a:prstGeom>
          <a:solidFill>
            <a:srgbClr val="F6EDD9"/>
          </a:solidFill>
          <a:ln/>
        </p:spPr>
      </p:sp>
      <p:sp>
        <p:nvSpPr>
          <p:cNvPr id="21" name="Text 19"/>
          <p:cNvSpPr/>
          <p:nvPr/>
        </p:nvSpPr>
        <p:spPr>
          <a:xfrm>
            <a:off x="10076688" y="2843784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C6B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준비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" y="3602736"/>
            <a:ext cx="11055096" cy="932688"/>
          </a:xfrm>
          <a:prstGeom prst="roundRect">
            <a:avLst>
              <a:gd name="adj" fmla="val 5882"/>
            </a:avLst>
          </a:prstGeom>
          <a:solidFill>
            <a:srgbClr val="F1F2F4"/>
          </a:solidFill>
          <a:ln/>
        </p:spPr>
      </p:sp>
      <p:sp>
        <p:nvSpPr>
          <p:cNvPr id="23" name="Shape 21"/>
          <p:cNvSpPr/>
          <p:nvPr/>
        </p:nvSpPr>
        <p:spPr>
          <a:xfrm>
            <a:off x="841248" y="3867912"/>
            <a:ext cx="402336" cy="402336"/>
          </a:xfrm>
          <a:prstGeom prst="ellipse">
            <a:avLst/>
          </a:prstGeom>
          <a:solidFill>
            <a:srgbClr val="3F6B7D"/>
          </a:solidFill>
          <a:ln/>
        </p:spPr>
      </p:sp>
      <p:sp>
        <p:nvSpPr>
          <p:cNvPr id="24" name="Text 22"/>
          <p:cNvSpPr/>
          <p:nvPr/>
        </p:nvSpPr>
        <p:spPr>
          <a:xfrm>
            <a:off x="841248" y="3867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463040" y="371246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2상 RVE 균질화 (C 행렬 + CTE)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463040" y="407822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같은 스크립트 → PBC_ELASTIC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596128" y="3886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Abaqus 필요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87768" y="38862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 분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0076688" y="3886200"/>
            <a:ext cx="1234440" cy="365760"/>
          </a:xfrm>
          <a:prstGeom prst="roundRect">
            <a:avLst>
              <a:gd name="adj" fmla="val 12500"/>
            </a:avLst>
          </a:prstGeom>
          <a:solidFill>
            <a:srgbClr val="F6EDD9"/>
          </a:solidFill>
          <a:ln/>
        </p:spPr>
      </p:sp>
      <p:sp>
        <p:nvSpPr>
          <p:cNvPr id="30" name="Text 28"/>
          <p:cNvSpPr/>
          <p:nvPr/>
        </p:nvSpPr>
        <p:spPr>
          <a:xfrm>
            <a:off x="10076688" y="38862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C6B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준비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66928" y="4645152"/>
            <a:ext cx="11055096" cy="932688"/>
          </a:xfrm>
          <a:prstGeom prst="roundRect">
            <a:avLst>
              <a:gd name="adj" fmla="val 5882"/>
            </a:avLst>
          </a:prstGeom>
          <a:solidFill>
            <a:srgbClr val="F1F2F4"/>
          </a:solidFill>
          <a:ln/>
        </p:spPr>
      </p:sp>
      <p:sp>
        <p:nvSpPr>
          <p:cNvPr id="32" name="Shape 30"/>
          <p:cNvSpPr/>
          <p:nvPr/>
        </p:nvSpPr>
        <p:spPr>
          <a:xfrm>
            <a:off x="841248" y="4910328"/>
            <a:ext cx="402336" cy="402336"/>
          </a:xfrm>
          <a:prstGeom prst="ellipse">
            <a:avLst/>
          </a:prstGeom>
          <a:solidFill>
            <a:srgbClr val="3F6B7D"/>
          </a:solidFill>
          <a:ln/>
        </p:spPr>
      </p:sp>
      <p:sp>
        <p:nvSpPr>
          <p:cNvPr id="33" name="Text 31"/>
          <p:cNvSpPr/>
          <p:nvPr/>
        </p:nvSpPr>
        <p:spPr>
          <a:xfrm>
            <a:off x="841248" y="4910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463040" y="47548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EasyPBC 교차검증 (독립 구현)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463040" y="512064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make_easypbc_model.py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596128" y="4928616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Abaqus 필요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287768" y="492861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 분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0076688" y="4928616"/>
            <a:ext cx="1234440" cy="365760"/>
          </a:xfrm>
          <a:prstGeom prst="roundRect">
            <a:avLst>
              <a:gd name="adj" fmla="val 12500"/>
            </a:avLst>
          </a:prstGeom>
          <a:solidFill>
            <a:srgbClr val="F6EDD9"/>
          </a:solidFill>
          <a:ln/>
        </p:spPr>
      </p:sp>
      <p:sp>
        <p:nvSpPr>
          <p:cNvPr id="39" name="Text 37"/>
          <p:cNvSpPr/>
          <p:nvPr/>
        </p:nvSpPr>
        <p:spPr>
          <a:xfrm>
            <a:off x="10076688" y="4928616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C6B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준비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66928" y="5797296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5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원칙 — 0단계가 깨지면 1단계 이후 숫자는 볼 필요가 없다. check_pbc.py 는 실패 시 exit 1 이므로 파이프라인 게이트로 쓴다.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566928" y="63276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 — verification/PBC_VALIDATION_GUIDE.md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D95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STAGE 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0단계 — 솔버 없이 1초 만에 거르는 7가지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490472"/>
            <a:ext cx="292608" cy="292608"/>
          </a:xfrm>
          <a:prstGeom prst="ellipse">
            <a:avLst/>
          </a:prstGeom>
          <a:solidFill>
            <a:srgbClr val="D9542B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4904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87552" y="1463040"/>
            <a:ext cx="6903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메쉬 / 격자 — 바운딩박스에서 Lx·Ly·Lz, 드라이버가 순수 DOF 운반체인지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66928" y="1947672"/>
            <a:ext cx="292608" cy="292608"/>
          </a:xfrm>
          <a:prstGeom prst="ellipse">
            <a:avLst/>
          </a:prstGeom>
          <a:solidFill>
            <a:srgbClr val="D9542B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9476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87552" y="1920240"/>
            <a:ext cx="6903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세트 페어링 — FaceA[k] 와 FaceB[k] 가 격자벡터 하나만큼 떨어져 있는지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2404872"/>
            <a:ext cx="292608" cy="292608"/>
          </a:xfrm>
          <a:prstGeom prst="ellipse">
            <a:avLst/>
          </a:prstGeom>
          <a:solidFill>
            <a:srgbClr val="D9542B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404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87552" y="2377440"/>
            <a:ext cx="6903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방정식 계수 — 실측 오프셋으로부터 계수를 다시 유도해 파일 값과 대조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2862072"/>
            <a:ext cx="292608" cy="292608"/>
          </a:xfrm>
          <a:prstGeom prst="ellipse">
            <a:avLst/>
          </a:prstGeom>
          <a:solidFill>
            <a:srgbClr val="D9542B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28620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87552" y="2834640"/>
            <a:ext cx="6903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DOF 소거 / 과구속 — 소거 DOF 중복, 소거 DOF 에 *Boundary 가 걸렸는지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3319272"/>
            <a:ext cx="292608" cy="292608"/>
          </a:xfrm>
          <a:prstGeom prst="ellipse">
            <a:avLst/>
          </a:prstGeom>
          <a:solidFill>
            <a:srgbClr val="3F6B7D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3319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87552" y="3291840"/>
            <a:ext cx="6903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표면 커버리지 — 모든 표면 절점이 정확히 한 번씩 구속되는지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3776472"/>
            <a:ext cx="292608" cy="292608"/>
          </a:xfrm>
          <a:prstGeom prst="ellipse">
            <a:avLst/>
          </a:prstGeom>
          <a:solidFill>
            <a:srgbClr val="3F6B7D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7764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87552" y="3749040"/>
            <a:ext cx="6903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강체모드 억제 — 코너 하나가 1/2/3 방향으로 고정되어 있는지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" y="4233672"/>
            <a:ext cx="292608" cy="292608"/>
          </a:xfrm>
          <a:prstGeom prst="ellipse">
            <a:avLst/>
          </a:prstGeom>
          <a:solidFill>
            <a:srgbClr val="3F6B7D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42336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87552" y="4206240"/>
            <a:ext cx="6903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부피분율 — tet 부피를 실제로 적분해 박스를 채우는지, 상 분율이 논문과 맞는지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955280" y="1444752"/>
            <a:ext cx="3666744" cy="969264"/>
          </a:xfrm>
          <a:prstGeom prst="roundRect">
            <a:avLst>
              <a:gd name="adj" fmla="val 5660"/>
            </a:avLst>
          </a:prstGeom>
          <a:solidFill>
            <a:srgbClr val="2F6B4F"/>
          </a:solidFill>
          <a:ln/>
        </p:spPr>
      </p:sp>
      <p:sp>
        <p:nvSpPr>
          <p:cNvPr id="26" name="Text 24"/>
          <p:cNvSpPr/>
          <p:nvPr/>
        </p:nvSpPr>
        <p:spPr>
          <a:xfrm>
            <a:off x="7955280" y="1517904"/>
            <a:ext cx="3666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RESULT: PBC DEFINITION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 CONSISTENT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955280" y="2048256"/>
            <a:ext cx="3666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E0D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6개 덱 전부 · 경고 0 건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955280" y="2523744"/>
            <a:ext cx="3666744" cy="3054096"/>
          </a:xfrm>
          <a:prstGeom prst="roundRect">
            <a:avLst>
              <a:gd name="adj" fmla="val 1796"/>
            </a:avLst>
          </a:prstGeom>
          <a:solidFill>
            <a:srgbClr val="F1F2F4"/>
          </a:solidFill>
          <a:ln/>
        </p:spPr>
      </p:sp>
      <p:sp>
        <p:nvSpPr>
          <p:cNvPr id="29" name="Text 27"/>
          <p:cNvSpPr/>
          <p:nvPr/>
        </p:nvSpPr>
        <p:spPr>
          <a:xfrm>
            <a:off x="8174736" y="268833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V_RVE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198864" y="2688336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5.390000 mm³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74736" y="309981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충전율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198864" y="3099816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100.0000 %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174736" y="351129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방정식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198864" y="3511296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57 식 전부 정합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174736" y="392277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표면 절점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198864" y="3922776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9,062 (면 8,630 · 모서리 424 · 꼭짓점 8)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174736" y="433425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대응 절점 수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198864" y="4334256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 394=394 · y 406=406 · z 3951=3951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174736" y="474573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 분율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198864" y="4745736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얀 50.51 % / 기지 49.49 %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174736" y="515721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Vf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9198864" y="5157216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0.5051 × 0.792 = 0.4000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66928" y="4828032"/>
            <a:ext cx="7360920" cy="749808"/>
          </a:xfrm>
          <a:prstGeom prst="roundRect">
            <a:avLst>
              <a:gd name="adj" fmla="val 7317"/>
            </a:avLst>
          </a:prstGeom>
          <a:solidFill>
            <a:srgbClr val="FAE7DF"/>
          </a:solidFill>
          <a:ln/>
        </p:spPr>
      </p:sp>
      <p:sp>
        <p:nvSpPr>
          <p:cNvPr id="44" name="Text 42"/>
          <p:cNvSpPr/>
          <p:nvPr/>
        </p:nvSpPr>
        <p:spPr>
          <a:xfrm>
            <a:off x="822960" y="4828032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마주보는 면의 절점 수가 정확히 같다 = 메쉬 자체가 주기적이다. 다르면 TexGen 에서 다시 뽑아야 한다.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566928" y="63276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 — verification/check_pbc.py 실행 결과 (PBC_VALIDATION_GUIDE.md 기재) · 174,405 요소 생산 덱 기준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D95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TESTING THE TESTER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통과만 하는 검사기는 쓸모없다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정상 덱에 실제로 자주 나는 결함 11가지를 일부러 주입해서, 감사 도구가 전부 잡아내는지 확인했다.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2606040" cy="566928"/>
          </a:xfrm>
          <a:prstGeom prst="roundRect">
            <a:avLst>
              <a:gd name="adj" fmla="val 9677"/>
            </a:avLst>
          </a:prstGeom>
          <a:solidFill>
            <a:srgbClr val="F1F2F4"/>
          </a:solidFill>
          <a:ln w="12700">
            <a:solidFill>
              <a:srgbClr val="DCE0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828800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5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24128" y="1828800"/>
            <a:ext cx="2002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옛날 격자길이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92424" y="1828800"/>
            <a:ext cx="2606040" cy="566928"/>
          </a:xfrm>
          <a:prstGeom prst="roundRect">
            <a:avLst>
              <a:gd name="adj" fmla="val 9677"/>
            </a:avLst>
          </a:prstGeom>
          <a:solidFill>
            <a:srgbClr val="F1F2F4"/>
          </a:solidFill>
          <a:ln w="12700">
            <a:solidFill>
              <a:srgbClr val="DCE0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38728" y="1828800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5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9624" y="1828800"/>
            <a:ext cx="2002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 세트 길이 불일치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828800"/>
            <a:ext cx="2606040" cy="566928"/>
          </a:xfrm>
          <a:prstGeom prst="roundRect">
            <a:avLst>
              <a:gd name="adj" fmla="val 9677"/>
            </a:avLst>
          </a:prstGeom>
          <a:solidFill>
            <a:srgbClr val="F1F2F4"/>
          </a:solidFill>
          <a:ln w="12700">
            <a:solidFill>
              <a:srgbClr val="DCE0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64224" y="1828800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5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75120" y="1828800"/>
            <a:ext cx="2002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세트 순서 뒤바뀜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043416" y="1828800"/>
            <a:ext cx="2606040" cy="566928"/>
          </a:xfrm>
          <a:prstGeom prst="roundRect">
            <a:avLst>
              <a:gd name="adj" fmla="val 9677"/>
            </a:avLst>
          </a:prstGeom>
          <a:solidFill>
            <a:srgbClr val="F1F2F4"/>
          </a:solidFill>
          <a:ln w="12700">
            <a:solidFill>
              <a:srgbClr val="DCE0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89720" y="1828800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5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500616" y="1828800"/>
            <a:ext cx="2002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전단항 삭제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" y="2596896"/>
            <a:ext cx="2606040" cy="566928"/>
          </a:xfrm>
          <a:prstGeom prst="roundRect">
            <a:avLst>
              <a:gd name="adj" fmla="val 9677"/>
            </a:avLst>
          </a:prstGeom>
          <a:solidFill>
            <a:srgbClr val="F1F2F4"/>
          </a:solidFill>
          <a:ln w="12700">
            <a:solidFill>
              <a:srgbClr val="DCE0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2596896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5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24128" y="2596896"/>
            <a:ext cx="2002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부호 반전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92424" y="2596896"/>
            <a:ext cx="2606040" cy="566928"/>
          </a:xfrm>
          <a:prstGeom prst="roundRect">
            <a:avLst>
              <a:gd name="adj" fmla="val 9677"/>
            </a:avLst>
          </a:prstGeom>
          <a:solidFill>
            <a:srgbClr val="F1F2F4"/>
          </a:solidFill>
          <a:ln w="12700">
            <a:solidFill>
              <a:srgbClr val="DCE0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38728" y="2596896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5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849624" y="2596896"/>
            <a:ext cx="2002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DOF 이중 소거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2596896"/>
            <a:ext cx="2606040" cy="566928"/>
          </a:xfrm>
          <a:prstGeom prst="roundRect">
            <a:avLst>
              <a:gd name="adj" fmla="val 9677"/>
            </a:avLst>
          </a:prstGeom>
          <a:solidFill>
            <a:srgbClr val="F1F2F4"/>
          </a:solidFill>
          <a:ln w="12700">
            <a:solidFill>
              <a:srgbClr val="DCE0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64224" y="2596896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5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675120" y="2596896"/>
            <a:ext cx="2002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소거 DOF 에 *Boundary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043416" y="2596896"/>
            <a:ext cx="2606040" cy="566928"/>
          </a:xfrm>
          <a:prstGeom prst="roundRect">
            <a:avLst>
              <a:gd name="adj" fmla="val 9677"/>
            </a:avLst>
          </a:prstGeom>
          <a:solidFill>
            <a:srgbClr val="F1F2F4"/>
          </a:solidFill>
          <a:ln w="12700">
            <a:solidFill>
              <a:srgbClr val="DCE0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89720" y="2596896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5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500616" y="2596896"/>
            <a:ext cx="2002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코너 고정 삭제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66928" y="3364992"/>
            <a:ext cx="2606040" cy="566928"/>
          </a:xfrm>
          <a:prstGeom prst="roundRect">
            <a:avLst>
              <a:gd name="adj" fmla="val 9677"/>
            </a:avLst>
          </a:prstGeom>
          <a:solidFill>
            <a:srgbClr val="F1F2F4"/>
          </a:solidFill>
          <a:ln w="12700">
            <a:solidFill>
              <a:srgbClr val="DCE0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" y="3364992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5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24128" y="3364992"/>
            <a:ext cx="2002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표면 절점 누락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392424" y="3364992"/>
            <a:ext cx="2606040" cy="566928"/>
          </a:xfrm>
          <a:prstGeom prst="roundRect">
            <a:avLst>
              <a:gd name="adj" fmla="val 9677"/>
            </a:avLst>
          </a:prstGeom>
          <a:solidFill>
            <a:srgbClr val="F1F2F4"/>
          </a:solidFill>
          <a:ln w="12700">
            <a:solidFill>
              <a:srgbClr val="DCE0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38728" y="3364992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5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849624" y="3364992"/>
            <a:ext cx="2002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드라이버 번호 충돌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17920" y="3364992"/>
            <a:ext cx="2606040" cy="566928"/>
          </a:xfrm>
          <a:prstGeom prst="roundRect">
            <a:avLst>
              <a:gd name="adj" fmla="val 9677"/>
            </a:avLst>
          </a:prstGeom>
          <a:solidFill>
            <a:srgbClr val="F1F2F4"/>
          </a:solidFill>
          <a:ln w="12700">
            <a:solidFill>
              <a:srgbClr val="DCE0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64224" y="3364992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5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675120" y="3364992"/>
            <a:ext cx="2002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비주기 메쉬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412480" y="4133088"/>
            <a:ext cx="3209544" cy="566928"/>
          </a:xfrm>
          <a:prstGeom prst="roundRect">
            <a:avLst>
              <a:gd name="adj" fmla="val 9677"/>
            </a:avLst>
          </a:prstGeom>
          <a:solidFill>
            <a:srgbClr val="2F6B4F"/>
          </a:solidFill>
          <a:ln/>
        </p:spPr>
      </p:sp>
      <p:sp>
        <p:nvSpPr>
          <p:cNvPr id="39" name="Text 37"/>
          <p:cNvSpPr/>
          <p:nvPr/>
        </p:nvSpPr>
        <p:spPr>
          <a:xfrm>
            <a:off x="8412480" y="4133088"/>
            <a:ext cx="3209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11 FAULTS DETECTED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66928" y="4992624"/>
            <a:ext cx="11057839" cy="1042416"/>
          </a:xfrm>
          <a:prstGeom prst="roundRect">
            <a:avLst>
              <a:gd name="adj" fmla="val 5263"/>
            </a:avLst>
          </a:prstGeom>
          <a:solidFill>
            <a:srgbClr val="24282E"/>
          </a:solidFill>
          <a:ln/>
        </p:spPr>
      </p:sp>
      <p:sp>
        <p:nvSpPr>
          <p:cNvPr id="41" name="Text 39"/>
          <p:cNvSpPr/>
          <p:nvPr/>
        </p:nvSpPr>
        <p:spPr>
          <a:xfrm>
            <a:off x="859536" y="4992624"/>
            <a:ext cx="10472623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D95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이걸 하는가.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 도구가 “통과”라고 말했을 때 그 말을 믿을 근거가 있어야 하기 때문이다. 잡지 못하는 검사는 통과와 구별되지 않는다.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66928" y="63276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 — verification/test_check_pbc.py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D95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STAGE 1–3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1~3단계 — 준비된 검증, 아직 돌리지 않은 것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444752"/>
            <a:ext cx="3566160" cy="2724912"/>
          </a:xfrm>
          <a:prstGeom prst="roundRect">
            <a:avLst>
              <a:gd name="adj" fmla="val 2013"/>
            </a:avLst>
          </a:prstGeom>
          <a:solidFill>
            <a:srgbClr val="F1F2F4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609344"/>
            <a:ext cx="3090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95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 패치 테스트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04672" y="2011680"/>
            <a:ext cx="309067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RVE 전체에 등방 재료 하나만 넣고 거시 변형률을 건다. 정답이 닫힌 형태로 알려져 있다.</a:t>
            </a:r>
            <a:endParaRPr lang="en-US" sz="1050" dirty="0"/>
          </a:p>
          <a:p>
            <a:pPr indent="0" marL="0">
              <a:lnSpc>
                <a:spcPct val="124000"/>
              </a:lnSpc>
              <a:buNone/>
            </a:pPr>
            <a:endParaRPr lang="en-US" sz="10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C3D4 는 상수변형률을 정확히 표현하므로 판정 기준이 “그럴듯한가”가 아니라 “1e-12 인가”가 된다.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52544" y="1444752"/>
            <a:ext cx="3566160" cy="2724912"/>
          </a:xfrm>
          <a:prstGeom prst="roundRect">
            <a:avLst>
              <a:gd name="adj" fmla="val 2013"/>
            </a:avLst>
          </a:prstGeom>
          <a:solidFill>
            <a:srgbClr val="F1F2F4"/>
          </a:solidFill>
          <a:ln/>
        </p:spPr>
      </p:sp>
      <p:sp>
        <p:nvSpPr>
          <p:cNvPr id="8" name="Text 6"/>
          <p:cNvSpPr/>
          <p:nvPr/>
        </p:nvSpPr>
        <p:spPr>
          <a:xfrm>
            <a:off x="4590288" y="1609344"/>
            <a:ext cx="3090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F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 2상 균질화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90288" y="2011680"/>
            <a:ext cx="309067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손상·소성을 뺀 선형 탄성 2상 RVE.</a:t>
            </a:r>
            <a:endParaRPr lang="en-US" sz="1050" dirty="0"/>
          </a:p>
          <a:p>
            <a:pPr indent="0" marL="0">
              <a:lnSpc>
                <a:spcPct val="124000"/>
              </a:lnSpc>
              <a:buNone/>
            </a:pPr>
            <a:endParaRPr lang="en-US" sz="10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6×6 강성 C, 공학상수 9개, 균질화 CTE 를 얻고 평균화 · Hill–Mandel · 대칭성 3가지가 독립적으로 검증된다.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138160" y="1444752"/>
            <a:ext cx="3566160" cy="2724912"/>
          </a:xfrm>
          <a:prstGeom prst="roundRect">
            <a:avLst>
              <a:gd name="adj" fmla="val 2013"/>
            </a:avLst>
          </a:prstGeom>
          <a:solidFill>
            <a:srgbClr val="F1F2F4"/>
          </a:solidFill>
          <a:ln/>
        </p:spPr>
      </p:sp>
      <p:sp>
        <p:nvSpPr>
          <p:cNvPr id="11" name="Text 9"/>
          <p:cNvSpPr/>
          <p:nvPr/>
        </p:nvSpPr>
        <p:spPr>
          <a:xfrm>
            <a:off x="8375904" y="1609344"/>
            <a:ext cx="3090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6B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 EasyPBC 교차검증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375904" y="2011680"/>
            <a:ext cx="309067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EasyPBC (Omairey et al., SoftwareX 9, 2019) 는 자기 구속식을 따로 만든다. 우리 코드와 한 줄도 공유하지 않는 독립 구현.</a:t>
            </a:r>
            <a:endParaRPr lang="en-US" sz="1050" dirty="0"/>
          </a:p>
          <a:p>
            <a:pPr indent="0" marL="0">
              <a:lnSpc>
                <a:spcPct val="124000"/>
              </a:lnSpc>
              <a:buNone/>
            </a:pPr>
            <a:endParaRPr lang="en-US" sz="10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메쉬에서 같은 답이면 외부 확증.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6928" y="433425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패치 테스트 통과 기준</a:t>
            </a:r>
            <a:endParaRPr lang="en-US" sz="12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663440"/>
          <a:ext cx="5943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20040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B7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기준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B7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응력장 균일성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peak-to-peak / |σ| &lt; 1e-6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주기 요동 u − H·x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퍼짐 / (H·L) &lt; 1e-6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 = C_isotropic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상대오차 &lt; 1e-6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균질화 CTE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D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상대오차 &lt; 1e-4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6766560" y="4334256"/>
            <a:ext cx="4855464" cy="1810512"/>
          </a:xfrm>
          <a:prstGeom prst="roundRect">
            <a:avLst>
              <a:gd name="adj" fmla="val 3030"/>
            </a:avLst>
          </a:prstGeom>
          <a:solidFill>
            <a:srgbClr val="F6EDD9"/>
          </a:solidFill>
          <a:ln/>
        </p:spPr>
      </p:sp>
      <p:sp>
        <p:nvSpPr>
          <p:cNvPr id="16" name="Text 13"/>
          <p:cNvSpPr/>
          <p:nvPr/>
        </p:nvSpPr>
        <p:spPr>
          <a:xfrm>
            <a:off x="7022592" y="448056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C6B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정직하게 밝힐 것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7022592" y="4791456"/>
            <a:ext cx="434340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1~3단계 스크립트는 전부 작성돼 있으나, 실행 결과는 현재 자료에 없다. 즉 이 세 단계는 “통과”라고 말할 수 없다.</a:t>
            </a:r>
            <a:endParaRPr lang="en-US" sz="1100" dirty="0"/>
          </a:p>
          <a:p>
            <a:pPr indent="0" marL="0">
              <a:lnSpc>
                <a:spcPct val="124000"/>
              </a:lnSpc>
              <a:buNone/>
            </a:pPr>
            <a:endParaRPr lang="en-US" sz="11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다만 PBC 가 옳다는 증거는 다른 경로로 이미 확보되어 있다 → 다음 장.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66928" y="63276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 — verification/PBC_VALIDATION_GUIDE.md 1~3단계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D95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EVIDENCE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그래도 PBC는 이미 증명됐다 — 본해석에서 나온 네 가지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444752"/>
            <a:ext cx="2688336" cy="2468880"/>
          </a:xfrm>
          <a:prstGeom prst="roundRect">
            <a:avLst>
              <a:gd name="adj" fmla="val 2222"/>
            </a:avLst>
          </a:prstGeom>
          <a:solidFill>
            <a:srgbClr val="F1F2F4"/>
          </a:solidFill>
          <a:ln/>
        </p:spPr>
      </p:sp>
      <p:sp>
        <p:nvSpPr>
          <p:cNvPr id="5" name="Text 3"/>
          <p:cNvSpPr/>
          <p:nvPr/>
        </p:nvSpPr>
        <p:spPr>
          <a:xfrm>
            <a:off x="786384" y="1627632"/>
            <a:ext cx="22494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드라이버 반력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86384" y="2194560"/>
            <a:ext cx="22494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95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6개 전부 0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86384" y="2926080"/>
            <a:ext cx="22494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구속이 새지 않는다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29000" y="1444752"/>
            <a:ext cx="2688336" cy="2468880"/>
          </a:xfrm>
          <a:prstGeom prst="roundRect">
            <a:avLst>
              <a:gd name="adj" fmla="val 2222"/>
            </a:avLst>
          </a:prstGeom>
          <a:solidFill>
            <a:srgbClr val="F1F2F4"/>
          </a:solidFill>
          <a:ln/>
        </p:spPr>
      </p:sp>
      <p:sp>
        <p:nvSpPr>
          <p:cNvPr id="9" name="Text 7"/>
          <p:cNvSpPr/>
          <p:nvPr/>
        </p:nvSpPr>
        <p:spPr>
          <a:xfrm>
            <a:off x="3648456" y="1627632"/>
            <a:ext cx="22494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체적가중 평균응력 잔차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48456" y="2194560"/>
            <a:ext cx="22494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F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4.0e−8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3648456" y="2926080"/>
            <a:ext cx="22494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기계정밀도 수준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91072" y="1444752"/>
            <a:ext cx="2688336" cy="2468880"/>
          </a:xfrm>
          <a:prstGeom prst="roundRect">
            <a:avLst>
              <a:gd name="adj" fmla="val 2222"/>
            </a:avLst>
          </a:prstGeom>
          <a:solidFill>
            <a:srgbClr val="F1F2F4"/>
          </a:solidFill>
          <a:ln/>
        </p:spPr>
      </p:sp>
      <p:sp>
        <p:nvSpPr>
          <p:cNvPr id="13" name="Text 11"/>
          <p:cNvSpPr/>
          <p:nvPr/>
        </p:nvSpPr>
        <p:spPr>
          <a:xfrm>
            <a:off x="6510528" y="1627632"/>
            <a:ext cx="22494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횡방향 응력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10528" y="2194560"/>
            <a:ext cx="22494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F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증분 0.000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510528" y="2926080"/>
            <a:ext cx="22494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단축 인장이 정확히 단축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153144" y="1444752"/>
            <a:ext cx="2688336" cy="2468880"/>
          </a:xfrm>
          <a:prstGeom prst="roundRect">
            <a:avLst>
              <a:gd name="adj" fmla="val 2222"/>
            </a:avLst>
          </a:prstGeom>
          <a:solidFill>
            <a:srgbClr val="F1F2F4"/>
          </a:solidFill>
          <a:ln/>
        </p:spPr>
      </p:sp>
      <p:sp>
        <p:nvSpPr>
          <p:cNvPr id="17" name="Text 15"/>
          <p:cNvSpPr/>
          <p:nvPr/>
        </p:nvSpPr>
        <p:spPr>
          <a:xfrm>
            <a:off x="9372600" y="1627632"/>
            <a:ext cx="22494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강성 6×6 대칭성 위반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372600" y="2194560"/>
            <a:ext cx="22494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F6B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0.0000 %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372600" y="2926080"/>
            <a:ext cx="22494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PBC 와 야코비안이 동시에 옳아야만 나온다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" y="4078224"/>
            <a:ext cx="11057839" cy="1170432"/>
          </a:xfrm>
          <a:prstGeom prst="roundRect">
            <a:avLst>
              <a:gd name="adj" fmla="val 4688"/>
            </a:avLst>
          </a:prstGeom>
          <a:solidFill>
            <a:srgbClr val="E2EEE8"/>
          </a:solidFill>
          <a:ln/>
        </p:spPr>
      </p:sp>
      <p:sp>
        <p:nvSpPr>
          <p:cNvPr id="21" name="Text 19"/>
          <p:cNvSpPr/>
          <p:nvPr/>
        </p:nvSpPr>
        <p:spPr>
          <a:xfrm>
            <a:off x="859536" y="4078224"/>
            <a:ext cx="10472623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b="1" dirty="0">
                <a:solidFill>
                  <a:srgbClr val="2F6B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번째가 가장 강하다. </a:t>
            </a:r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추출 과정에서 대칭을 강제하는 부분이 전혀 없는데도 C_ij 와 C_ji 가 0.0000 % 로 같다는 것은, 주기경계조건과 UMAT 할선 야코비안이 </a:t>
            </a:r>
            <a:pPr indent="0" marL="0">
              <a:lnSpc>
                <a:spcPct val="122000"/>
              </a:lnSpc>
              <a:buNone/>
            </a:pPr>
            <a:r>
              <a:rPr lang="en-US" sz="135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동시에</a:t>
            </a:r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옳아야만 나오는 값이다.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66928" y="5431536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C6B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여전히 남은 것 — 패치 테스트 · EasyPBC 교차검증은 미실행. RVE 수준 메쉬 수렴성도 미검증.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66928" y="63276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 — 랩미팅 브리프 §7 (예상질문), §4.5 손상 후 균질화 강성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D95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AFTER THE RVE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RVE를 넣고 나서 — 조립과 해석 절차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5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조립 — assemble_inp.py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1737360"/>
            <a:ext cx="896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499616" y="1737360"/>
            <a:ext cx="4462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TexGen 메쉬 (.inp + .ori + .eld)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2176272"/>
            <a:ext cx="896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교체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499616" y="2176272"/>
            <a:ext cx="4462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TexGen 이 붙인 재료 · 스텝은 버리고 UMAT 카드로 교체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2615184"/>
            <a:ext cx="896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재료명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499616" y="2615184"/>
            <a:ext cx="4462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SIC_MATRIX_DAMAGE / CSIC_YARN_DAMAGE (CMNAME 검사)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3054096"/>
            <a:ext cx="896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얀 물성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499616" y="3054096"/>
            <a:ext cx="4462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Chamis(강성) · Schapery(CTE) 미시역학 — 오차 0.005 % 이내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3493008"/>
            <a:ext cx="896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499616" y="3493008"/>
            <a:ext cx="4462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3온도 덱 (RT23 / T500 / T1000) · double precision 필수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09360" y="1371600"/>
            <a:ext cx="5312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5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해석 절차 — 논문 §3.2.4 와 동일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09360" y="1737360"/>
            <a:ext cx="5312664" cy="694944"/>
          </a:xfrm>
          <a:prstGeom prst="roundRect">
            <a:avLst>
              <a:gd name="adj" fmla="val 7895"/>
            </a:avLst>
          </a:prstGeom>
          <a:solidFill>
            <a:srgbClr val="F1F2F4"/>
          </a:solidFill>
          <a:ln/>
        </p:spPr>
      </p:sp>
      <p:sp>
        <p:nvSpPr>
          <p:cNvPr id="17" name="Text 15"/>
          <p:cNvSpPr/>
          <p:nvPr/>
        </p:nvSpPr>
        <p:spPr>
          <a:xfrm>
            <a:off x="6510528" y="1737360"/>
            <a:ext cx="868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5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60920" y="1737360"/>
            <a:ext cx="6583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냉각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046720" y="1737360"/>
            <a:ext cx="3383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1050 °C → 23 °C · 잔류응력과 초기 손상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309360" y="2505456"/>
            <a:ext cx="5312664" cy="694944"/>
          </a:xfrm>
          <a:prstGeom prst="roundRect">
            <a:avLst>
              <a:gd name="adj" fmla="val 7895"/>
            </a:avLst>
          </a:prstGeom>
          <a:solidFill>
            <a:srgbClr val="F1F2F4"/>
          </a:solidFill>
          <a:ln/>
        </p:spPr>
      </p:sp>
      <p:sp>
        <p:nvSpPr>
          <p:cNvPr id="21" name="Text 19"/>
          <p:cNvSpPr/>
          <p:nvPr/>
        </p:nvSpPr>
        <p:spPr>
          <a:xfrm>
            <a:off x="6510528" y="2505456"/>
            <a:ext cx="868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5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60920" y="2505456"/>
            <a:ext cx="6583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승온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046720" y="2505456"/>
            <a:ext cx="3383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 °C → 시험온도 · 응력 재분배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309360" y="3273552"/>
            <a:ext cx="5312664" cy="694944"/>
          </a:xfrm>
          <a:prstGeom prst="roundRect">
            <a:avLst>
              <a:gd name="adj" fmla="val 7895"/>
            </a:avLst>
          </a:prstGeom>
          <a:solidFill>
            <a:srgbClr val="F1F2F4"/>
          </a:solidFill>
          <a:ln/>
        </p:spPr>
      </p:sp>
      <p:sp>
        <p:nvSpPr>
          <p:cNvPr id="25" name="Text 23"/>
          <p:cNvSpPr/>
          <p:nvPr/>
        </p:nvSpPr>
        <p:spPr>
          <a:xfrm>
            <a:off x="6510528" y="3273552"/>
            <a:ext cx="868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5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60920" y="3273552"/>
            <a:ext cx="6583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인장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046720" y="3273552"/>
            <a:ext cx="3383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시험온도 유지 · 주기경계 x 방향 인장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309360" y="4041648"/>
            <a:ext cx="5312664" cy="694944"/>
          </a:xfrm>
          <a:prstGeom prst="roundRect">
            <a:avLst>
              <a:gd name="adj" fmla="val 7895"/>
            </a:avLst>
          </a:prstGeom>
          <a:solidFill>
            <a:srgbClr val="E3ECF0"/>
          </a:solidFill>
          <a:ln/>
        </p:spPr>
      </p:sp>
      <p:sp>
        <p:nvSpPr>
          <p:cNvPr id="29" name="Text 27"/>
          <p:cNvSpPr/>
          <p:nvPr/>
        </p:nvSpPr>
        <p:spPr>
          <a:xfrm>
            <a:off x="6510528" y="4041648"/>
            <a:ext cx="868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4–9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360920" y="4041648"/>
            <a:ext cx="6583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추가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046720" y="4041648"/>
            <a:ext cx="3383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HOM_E11 ~ HOM_G23 선형섭동 6스텝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309360" y="4846320"/>
            <a:ext cx="5312664" cy="1005840"/>
          </a:xfrm>
          <a:prstGeom prst="roundRect">
            <a:avLst>
              <a:gd name="adj" fmla="val 5455"/>
            </a:avLst>
          </a:prstGeom>
          <a:solidFill>
            <a:srgbClr val="E2EEE8"/>
          </a:solidFill>
          <a:ln/>
        </p:spPr>
      </p:sp>
      <p:sp>
        <p:nvSpPr>
          <p:cNvPr id="33" name="Text 31"/>
          <p:cNvSpPr/>
          <p:nvPr/>
        </p:nvSpPr>
        <p:spPr>
          <a:xfrm>
            <a:off x="6510528" y="4846320"/>
            <a:ext cx="49103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4–9 는 논문에 없다. 같은 해석 안에서 손상 후 균질화 강성 6×6 을 새 해석 없이 뽑기 위해 우리가 붙인 것이다.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66928" y="4041648"/>
            <a:ext cx="5394960" cy="1810512"/>
          </a:xfrm>
          <a:prstGeom prst="roundRect">
            <a:avLst>
              <a:gd name="adj" fmla="val 3030"/>
            </a:avLst>
          </a:prstGeom>
          <a:solidFill>
            <a:srgbClr val="24282E"/>
          </a:solidFill>
          <a:ln/>
        </p:spPr>
      </p:sp>
      <p:sp>
        <p:nvSpPr>
          <p:cNvPr id="35" name="Text 33"/>
          <p:cNvSpPr/>
          <p:nvPr/>
        </p:nvSpPr>
        <p:spPr>
          <a:xfrm>
            <a:off x="822960" y="4206240"/>
            <a:ext cx="4882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D95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메쉬가 바뀌어도 재료카드와 스텝은 그대로 재사용된다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822960" y="4754880"/>
            <a:ext cx="48828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C6CDD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크랙밴드 정규화가 요소크기를 흡수하기 때문이다. 그래서 coarse 메쉬로 경향을 먼저 보고, 같은 카드로 조밀 메쉬를 돌릴 수 있다.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66928" y="63276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 — abaqus/assemble_inp.py, MESH_REGEN_GUIDE.md, 논문 §3.2.4, 브리프 §3.3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428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D95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WHERE IT STANDS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여기까지의 결과, 그리고 다음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5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인장강도 — 논문 절차(23 °C 경유) 기준</a:t>
            </a:r>
            <a:endParaRPr lang="en-US" sz="12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19072"/>
          <a:ext cx="60350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691640"/>
                <a:gridCol w="1508760"/>
                <a:gridCol w="15544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온도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4A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46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우리 모델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4A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46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논문 해석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4A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46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차이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4A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465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23 °C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4A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9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125.81 MPa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4A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9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6CDD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128.45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4A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9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6FBF8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−2.1 %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4A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94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500 °C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4A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9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129.23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4A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9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6CDD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179.42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4A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9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E884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−28.0 %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4A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94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1000 °C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4A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9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122.19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4A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9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6CDD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199.15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4A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9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E884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−38.6 %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4A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941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3529584"/>
            <a:ext cx="6035040" cy="1298448"/>
          </a:xfrm>
          <a:prstGeom prst="roundRect">
            <a:avLst>
              <a:gd name="adj" fmla="val 4225"/>
            </a:avLst>
          </a:prstGeom>
          <a:solidFill>
            <a:srgbClr val="3A2C25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3529584"/>
            <a:ext cx="54864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D95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밝힐 것 — </a:t>
            </a:r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 °C 의 125.81 MPa 는 얀 종방향 강도 X_y,1t = 421 MPa 를 논문 Table 3 에 맞춰 역보정해서 얻은 값이다. 예측이 아니라 보정이다.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223760" y="1371600"/>
            <a:ext cx="4398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5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다음에 할 것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223760" y="1783080"/>
            <a:ext cx="310896" cy="310896"/>
          </a:xfrm>
          <a:prstGeom prst="ellipse">
            <a:avLst/>
          </a:prstGeom>
          <a:solidFill>
            <a:srgbClr val="D9542B"/>
          </a:solidFill>
          <a:ln/>
        </p:spPr>
      </p:sp>
      <p:sp>
        <p:nvSpPr>
          <p:cNvPr id="10" name="Text 7"/>
          <p:cNvSpPr/>
          <p:nvPr/>
        </p:nvSpPr>
        <p:spPr>
          <a:xfrm>
            <a:off x="7223760" y="1783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662672" y="1737360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PAPERFAITH 체인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662672" y="2011680"/>
            <a:ext cx="3959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6CDD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논문 절차로 돌아가되 냉각 손상을 논문 수준까지. 링크당 변수 하나만 — P0/P1/P2 실행 중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223760" y="2843784"/>
            <a:ext cx="310896" cy="310896"/>
          </a:xfrm>
          <a:prstGeom prst="ellipse">
            <a:avLst/>
          </a:prstGeom>
          <a:solidFill>
            <a:srgbClr val="D9542B"/>
          </a:solidFill>
          <a:ln/>
        </p:spPr>
      </p:sp>
      <p:sp>
        <p:nvSpPr>
          <p:cNvPr id="14" name="Text 11"/>
          <p:cNvSpPr/>
          <p:nvPr/>
        </p:nvSpPr>
        <p:spPr>
          <a:xfrm>
            <a:off x="7223760" y="28437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662672" y="2798064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Fig. 4 로 판정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662672" y="3072384"/>
            <a:ext cx="3959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6CDD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기지 손상 개시온도와 도달률로 합격 여부를 가른다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223760" y="3904488"/>
            <a:ext cx="310896" cy="310896"/>
          </a:xfrm>
          <a:prstGeom prst="ellipse">
            <a:avLst/>
          </a:prstGeom>
          <a:solidFill>
            <a:srgbClr val="3F6B7D"/>
          </a:solidFill>
          <a:ln/>
        </p:spPr>
      </p:sp>
      <p:sp>
        <p:nvSpPr>
          <p:cNvPr id="18" name="Text 15"/>
          <p:cNvSpPr/>
          <p:nvPr/>
        </p:nvSpPr>
        <p:spPr>
          <a:xfrm>
            <a:off x="7223760" y="3904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662672" y="3858768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패치 테스트 · EasyPBC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662672" y="4133088"/>
            <a:ext cx="3959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6CDD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PBC 검증 사다리 1~3단계 실행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223760" y="4965192"/>
            <a:ext cx="310896" cy="310896"/>
          </a:xfrm>
          <a:prstGeom prst="ellipse">
            <a:avLst/>
          </a:prstGeom>
          <a:solidFill>
            <a:srgbClr val="3F6B7D"/>
          </a:solidFill>
          <a:ln/>
        </p:spPr>
      </p:sp>
      <p:sp>
        <p:nvSpPr>
          <p:cNvPr id="22" name="Text 19"/>
          <p:cNvSpPr/>
          <p:nvPr/>
        </p:nvSpPr>
        <p:spPr>
          <a:xfrm>
            <a:off x="7223760" y="4965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662672" y="4919472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메쉬 수렴성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662672" y="5193792"/>
            <a:ext cx="3959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6CDD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V2_6 얀 크랙밴드 정규화 이후에만 의미가 있다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66928" y="5029200"/>
            <a:ext cx="6035040" cy="1078992"/>
          </a:xfrm>
          <a:prstGeom prst="roundRect">
            <a:avLst>
              <a:gd name="adj" fmla="val 5085"/>
            </a:avLst>
          </a:prstGeom>
          <a:solidFill>
            <a:srgbClr val="333941"/>
          </a:solidFill>
          <a:ln/>
        </p:spPr>
      </p:sp>
      <p:sp>
        <p:nvSpPr>
          <p:cNvPr id="26" name="Text 23"/>
          <p:cNvSpPr/>
          <p:nvPr/>
        </p:nvSpPr>
        <p:spPr>
          <a:xfrm>
            <a:off x="841248" y="5029200"/>
            <a:ext cx="54864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형상과 경계조건은 논쟁의 대상이 아니다.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문제는 전부 손상 물리 쪽에 있다.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566928" y="63276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3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 — 랩미팅 브리프 §4.1 · §6.1 · §8 · verification/PAPER_DEVIATION_REGISTER.md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C/SiC 평직 복합재 RVE 구축과 주기경계조건 검증</dc:title>
  <dc:subject>PptxGenJS Presentation</dc:subject>
  <dc:creator>CSIC RVE study</dc:creator>
  <cp:lastModifiedBy>CSIC RVE study</cp:lastModifiedBy>
  <cp:revision>1</cp:revision>
  <dcterms:created xsi:type="dcterms:W3CDTF">2026-08-06T04:57:29Z</dcterms:created>
  <dcterms:modified xsi:type="dcterms:W3CDTF">2026-08-06T04:57:29Z</dcterms:modified>
</cp:coreProperties>
</file>